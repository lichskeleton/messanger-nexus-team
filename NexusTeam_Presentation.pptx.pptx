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roxima Nova Bold" charset="1" panose="02000506030000020004"/>
      <p:regular r:id="rId30"/>
    </p:embeddedFont>
    <p:embeddedFont>
      <p:font typeface="Proxima Nova" charset="1" panose="02000506030000020004"/>
      <p:regular r:id="rId32"/>
    </p:embeddedFont>
    <p:embeddedFont>
      <p:font typeface="Calibri (MS)" charset="1" panose="020F0502020204030204"/>
      <p:regular r:id="rId33"/>
    </p:embeddedFont>
    <p:embeddedFont>
      <p:font typeface="Calibri (MS) Bold" charset="1" panose="020F0702030404030204"/>
      <p:regular r:id="rId48"/>
    </p:embeddedFont>
    <p:embeddedFont>
      <p:font typeface="Trirong Bold" charset="1" panose="000008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7296" y="1227296"/>
            <a:ext cx="2894648" cy="590360"/>
            <a:chOff x="0" y="0"/>
            <a:chExt cx="3859530" cy="7871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59530" cy="787146"/>
            </a:xfrm>
            <a:custGeom>
              <a:avLst/>
              <a:gdLst/>
              <a:ahLst/>
              <a:cxnLst/>
              <a:rect r="r" b="b" t="t" l="l"/>
              <a:pathLst>
                <a:path h="787146" w="3859530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3465957" y="0"/>
                  </a:lnTo>
                  <a:cubicBezTo>
                    <a:pt x="3683381" y="0"/>
                    <a:pt x="3859530" y="176149"/>
                    <a:pt x="3859530" y="393573"/>
                  </a:cubicBezTo>
                  <a:cubicBezTo>
                    <a:pt x="3859530" y="610997"/>
                    <a:pt x="3683381" y="787146"/>
                    <a:pt x="3465957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1234440"/>
            <a:ext cx="2880360" cy="576072"/>
            <a:chOff x="0" y="0"/>
            <a:chExt cx="3840480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480" cy="768096"/>
            </a:xfrm>
            <a:custGeom>
              <a:avLst/>
              <a:gdLst/>
              <a:ahLst/>
              <a:cxnLst/>
              <a:rect r="r" b="b" t="t" l="l"/>
              <a:pathLst>
                <a:path h="768096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8404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NEXUSTEAM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11015" y="1224915"/>
            <a:ext cx="4133850" cy="595122"/>
            <a:chOff x="0" y="0"/>
            <a:chExt cx="5511800" cy="7934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1800" cy="793496"/>
            </a:xfrm>
            <a:custGeom>
              <a:avLst/>
              <a:gdLst/>
              <a:ahLst/>
              <a:cxnLst/>
              <a:rect r="r" b="b" t="t" l="l"/>
              <a:pathLst>
                <a:path h="793496" w="551180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5115052" y="0"/>
                  </a:lnTo>
                  <a:cubicBezTo>
                    <a:pt x="5334127" y="0"/>
                    <a:pt x="5511800" y="177673"/>
                    <a:pt x="5511800" y="396748"/>
                  </a:cubicBezTo>
                  <a:cubicBezTo>
                    <a:pt x="5511800" y="615823"/>
                    <a:pt x="5334127" y="793496"/>
                    <a:pt x="511505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320540" y="1234440"/>
            <a:ext cx="4114800" cy="576072"/>
            <a:chOff x="0" y="0"/>
            <a:chExt cx="5486400" cy="768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68096"/>
            </a:xfrm>
            <a:custGeom>
              <a:avLst/>
              <a:gdLst/>
              <a:ahLst/>
              <a:cxnLst/>
              <a:rect r="r" b="b" t="t" l="l"/>
              <a:pathLst>
                <a:path h="768096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4864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149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THWS Project Defense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1584" y="3869913"/>
            <a:ext cx="14401800" cy="1932379"/>
            <a:chOff x="0" y="0"/>
            <a:chExt cx="19202400" cy="25765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02400" cy="2576505"/>
            </a:xfrm>
            <a:custGeom>
              <a:avLst/>
              <a:gdLst/>
              <a:ahLst/>
              <a:cxnLst/>
              <a:rect r="r" b="b" t="t" l="l"/>
              <a:pathLst>
                <a:path h="2576505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576505"/>
                  </a:lnTo>
                  <a:lnTo>
                    <a:pt x="0" y="2576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180" r="0" b="-842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9202400" cy="2576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919"/>
                </a:lnSpc>
              </a:pPr>
              <a:r>
                <a:rPr lang="en-US" b="true" sz="9099" spc="-13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NexusTeam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5574698"/>
            <a:ext cx="14813280" cy="842389"/>
            <a:chOff x="0" y="0"/>
            <a:chExt cx="19751040" cy="1123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751039" cy="1123186"/>
            </a:xfrm>
            <a:custGeom>
              <a:avLst/>
              <a:gdLst/>
              <a:ahLst/>
              <a:cxnLst/>
              <a:rect r="r" b="b" t="t" l="l"/>
              <a:pathLst>
                <a:path h="1123186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1123186"/>
                  </a:lnTo>
                  <a:lnTo>
                    <a:pt x="0" y="11231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864" r="0" b="-28741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9751040" cy="11231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b="true" sz="3999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Multi-Platform Communication System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562650" y="3068922"/>
            <a:ext cx="5226962" cy="5175283"/>
          </a:xfrm>
          <a:custGeom>
            <a:avLst/>
            <a:gdLst/>
            <a:ahLst/>
            <a:cxnLst/>
            <a:rect r="r" b="b" t="t" l="l"/>
            <a:pathLst>
              <a:path h="5175283" w="5226962">
                <a:moveTo>
                  <a:pt x="0" y="0"/>
                </a:moveTo>
                <a:lnTo>
                  <a:pt x="5226962" y="0"/>
                </a:lnTo>
                <a:lnTo>
                  <a:pt x="5226962" y="5175283"/>
                </a:lnTo>
                <a:lnTo>
                  <a:pt x="0" y="5175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6274320">
            <a:off x="15497714" y="805832"/>
            <a:ext cx="1706613" cy="1433288"/>
          </a:xfrm>
          <a:custGeom>
            <a:avLst/>
            <a:gdLst/>
            <a:ahLst/>
            <a:cxnLst/>
            <a:rect r="r" b="b" t="t" l="l"/>
            <a:pathLst>
              <a:path h="1433288" w="1706613">
                <a:moveTo>
                  <a:pt x="0" y="0"/>
                </a:moveTo>
                <a:lnTo>
                  <a:pt x="1706612" y="0"/>
                </a:lnTo>
                <a:lnTo>
                  <a:pt x="1706612" y="1433288"/>
                </a:lnTo>
                <a:lnTo>
                  <a:pt x="0" y="1433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-4665622">
            <a:off x="16191361" y="8463146"/>
            <a:ext cx="2574268" cy="2636894"/>
          </a:xfrm>
          <a:custGeom>
            <a:avLst/>
            <a:gdLst/>
            <a:ahLst/>
            <a:cxnLst/>
            <a:rect r="r" b="b" t="t" l="l"/>
            <a:pathLst>
              <a:path h="2636894" w="2574268">
                <a:moveTo>
                  <a:pt x="0" y="2636894"/>
                </a:moveTo>
                <a:lnTo>
                  <a:pt x="2574268" y="2636894"/>
                </a:lnTo>
                <a:lnTo>
                  <a:pt x="2574268" y="0"/>
                </a:lnTo>
                <a:lnTo>
                  <a:pt x="0" y="0"/>
                </a:lnTo>
                <a:lnTo>
                  <a:pt x="0" y="2636894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54442" y="9702181"/>
            <a:ext cx="1080244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b="true" sz="202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Team: Anna Kornet, </a:t>
            </a:r>
            <a:r>
              <a:rPr lang="en-US" b="true" sz="2025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Sofiia Khyzhnychenko, Vladyslav Zaplitniy, Halil Hakan Karabay</a:t>
            </a:r>
            <a:r>
              <a:rPr lang="en-US" b="true" sz="2025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2857473">
            <a:off x="11184376" y="1667235"/>
            <a:ext cx="853306" cy="716644"/>
          </a:xfrm>
          <a:custGeom>
            <a:avLst/>
            <a:gdLst/>
            <a:ahLst/>
            <a:cxnLst/>
            <a:rect r="r" b="b" t="t" l="l"/>
            <a:pathLst>
              <a:path h="716644" w="853306">
                <a:moveTo>
                  <a:pt x="0" y="0"/>
                </a:moveTo>
                <a:lnTo>
                  <a:pt x="853306" y="0"/>
                </a:lnTo>
                <a:lnTo>
                  <a:pt x="853306" y="716644"/>
                </a:lnTo>
                <a:lnTo>
                  <a:pt x="0" y="716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278921">
            <a:off x="12900779" y="9044135"/>
            <a:ext cx="651860" cy="547461"/>
          </a:xfrm>
          <a:custGeom>
            <a:avLst/>
            <a:gdLst/>
            <a:ahLst/>
            <a:cxnLst/>
            <a:rect r="r" b="b" t="t" l="l"/>
            <a:pathLst>
              <a:path h="547461" w="651860">
                <a:moveTo>
                  <a:pt x="0" y="0"/>
                </a:moveTo>
                <a:lnTo>
                  <a:pt x="651860" y="0"/>
                </a:lnTo>
                <a:lnTo>
                  <a:pt x="651860" y="547461"/>
                </a:lnTo>
                <a:lnTo>
                  <a:pt x="0" y="547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3553016" cy="508064"/>
            <a:chOff x="0" y="0"/>
            <a:chExt cx="4737354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7354" cy="677418"/>
            </a:xfrm>
            <a:custGeom>
              <a:avLst/>
              <a:gdLst/>
              <a:ahLst/>
              <a:cxnLst/>
              <a:rect r="r" b="b" t="t" l="l"/>
              <a:pathLst>
                <a:path h="677418" w="4737354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4398645" y="0"/>
                  </a:lnTo>
                  <a:cubicBezTo>
                    <a:pt x="4585716" y="0"/>
                    <a:pt x="4737354" y="151638"/>
                    <a:pt x="4737354" y="338709"/>
                  </a:cubicBezTo>
                  <a:cubicBezTo>
                    <a:pt x="4737354" y="525780"/>
                    <a:pt x="4585716" y="677418"/>
                    <a:pt x="4398645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3538728" cy="493776"/>
            <a:chOff x="0" y="0"/>
            <a:chExt cx="4718304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18304" cy="658368"/>
            </a:xfrm>
            <a:custGeom>
              <a:avLst/>
              <a:gdLst/>
              <a:ahLst/>
              <a:cxnLst/>
              <a:rect r="r" b="b" t="t" l="l"/>
              <a:pathLst>
                <a:path h="658368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718304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PROJECT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30471" y="607695"/>
            <a:ext cx="2487930" cy="512826"/>
            <a:chOff x="0" y="0"/>
            <a:chExt cx="33172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17240" cy="683768"/>
            </a:xfrm>
            <a:custGeom>
              <a:avLst/>
              <a:gdLst/>
              <a:ahLst/>
              <a:cxnLst/>
              <a:rect r="r" b="b" t="t" l="l"/>
              <a:pathLst>
                <a:path h="683768" w="33172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2975356" y="0"/>
                  </a:lnTo>
                  <a:cubicBezTo>
                    <a:pt x="3164205" y="0"/>
                    <a:pt x="3317240" y="153035"/>
                    <a:pt x="3317240" y="341884"/>
                  </a:cubicBezTo>
                  <a:cubicBezTo>
                    <a:pt x="3317240" y="530733"/>
                    <a:pt x="3164205" y="683768"/>
                    <a:pt x="29753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539996" y="617220"/>
            <a:ext cx="2468880" cy="493776"/>
            <a:chOff x="0" y="0"/>
            <a:chExt cx="32918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2918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Motivation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Project Overview &amp; Motivation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11885" y="2588895"/>
            <a:ext cx="11503976" cy="6589298"/>
            <a:chOff x="0" y="0"/>
            <a:chExt cx="11526970" cy="66024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26970" cy="6602468"/>
            </a:xfrm>
            <a:custGeom>
              <a:avLst/>
              <a:gdLst/>
              <a:ahLst/>
              <a:cxnLst/>
              <a:rect r="r" b="b" t="t" l="l"/>
              <a:pathLst>
                <a:path h="6602468" w="11526970">
                  <a:moveTo>
                    <a:pt x="0" y="396148"/>
                  </a:moveTo>
                  <a:cubicBezTo>
                    <a:pt x="0" y="177434"/>
                    <a:pt x="105369" y="0"/>
                    <a:pt x="235253" y="0"/>
                  </a:cubicBezTo>
                  <a:lnTo>
                    <a:pt x="11291718" y="0"/>
                  </a:lnTo>
                  <a:cubicBezTo>
                    <a:pt x="11421601" y="0"/>
                    <a:pt x="11526970" y="177434"/>
                    <a:pt x="11526970" y="396148"/>
                  </a:cubicBezTo>
                  <a:lnTo>
                    <a:pt x="11526970" y="6206321"/>
                  </a:lnTo>
                  <a:cubicBezTo>
                    <a:pt x="11526970" y="6425035"/>
                    <a:pt x="11421601" y="6602468"/>
                    <a:pt x="11291718" y="6602468"/>
                  </a:cubicBezTo>
                  <a:lnTo>
                    <a:pt x="235253" y="6602468"/>
                  </a:lnTo>
                  <a:cubicBezTo>
                    <a:pt x="105369" y="6602468"/>
                    <a:pt x="0" y="6425035"/>
                    <a:pt x="0" y="620632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920781" y="2937413"/>
            <a:ext cx="7488936" cy="466344"/>
            <a:chOff x="0" y="0"/>
            <a:chExt cx="9985248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85248" cy="621792"/>
            </a:xfrm>
            <a:custGeom>
              <a:avLst/>
              <a:gdLst/>
              <a:ahLst/>
              <a:cxnLst/>
              <a:rect r="r" b="b" t="t" l="l"/>
              <a:pathLst>
                <a:path h="621792" w="9985248">
                  <a:moveTo>
                    <a:pt x="0" y="0"/>
                  </a:moveTo>
                  <a:lnTo>
                    <a:pt x="9985248" y="0"/>
                  </a:lnTo>
                  <a:lnTo>
                    <a:pt x="998524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906" r="0" b="-2629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98524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SYSTEM CONCEPT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920781" y="4595343"/>
            <a:ext cx="7804404" cy="466344"/>
            <a:chOff x="0" y="0"/>
            <a:chExt cx="10405872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05872" cy="621792"/>
            </a:xfrm>
            <a:custGeom>
              <a:avLst/>
              <a:gdLst/>
              <a:ahLst/>
              <a:cxnLst/>
              <a:rect r="r" b="b" t="t" l="l"/>
              <a:pathLst>
                <a:path h="621792" w="10405872">
                  <a:moveTo>
                    <a:pt x="0" y="0"/>
                  </a:moveTo>
                  <a:lnTo>
                    <a:pt x="10405872" y="0"/>
                  </a:lnTo>
                  <a:lnTo>
                    <a:pt x="10405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087" r="0" b="-2760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405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CORE PROBLEM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20781" y="6158586"/>
            <a:ext cx="16171164" cy="466344"/>
            <a:chOff x="0" y="0"/>
            <a:chExt cx="21561552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672" r="0" b="-6256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ARCHITECTURAL SOLUTION — POLYGLOT PERSISTENCE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52785" y="7744590"/>
            <a:ext cx="16171164" cy="466344"/>
            <a:chOff x="0" y="0"/>
            <a:chExt cx="21561552" cy="621792"/>
          </a:xfrm>
        </p:grpSpPr>
        <p:sp>
          <p:nvSpPr>
            <p:cNvPr name="Freeform 27" id="27"/>
            <p:cNvSpPr/>
            <p:nvPr/>
          </p:nvSpPr>
          <p:spPr>
            <a:xfrm flipH="false" flipV="false" rot="6274320">
              <a:off x="7767474" y="-10201306"/>
              <a:ext cx="6026604" cy="21024405"/>
            </a:xfrm>
            <a:custGeom>
              <a:avLst/>
              <a:gdLst/>
              <a:ahLst/>
              <a:cxnLst/>
              <a:rect r="r" b="b" t="t" l="l"/>
              <a:pathLst>
                <a:path h="21024405" w="6026604">
                  <a:moveTo>
                    <a:pt x="5424814" y="21024404"/>
                  </a:moveTo>
                  <a:lnTo>
                    <a:pt x="0" y="156440"/>
                  </a:lnTo>
                  <a:lnTo>
                    <a:pt x="601791" y="0"/>
                  </a:lnTo>
                  <a:lnTo>
                    <a:pt x="6026604" y="208679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7693" t="0" r="-15769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REAL-TIME COMMUNICATION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 / 20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012221" y="3485291"/>
            <a:ext cx="7306056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NexusTeam is a modern multi-platform communication system providing real-time messaging, file sharing, presence, voice calls, and AI image generation.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012221" y="5143221"/>
            <a:ext cx="7621524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Modern messaging platforms require reliability, security, and scalability — which single-database architectures struggle to deliver efficiently.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12221" y="6706464"/>
            <a:ext cx="15988284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Oracle Database:  relational data for structured user accounts and security.</a:t>
            </a:r>
          </a:p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MongoDB:  document-oriented data for chats, messages, folders, and attachments.</a:t>
            </a:r>
          </a:p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Redis:  in-memory caching for high-speed temporary data, sessions, and presence.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044225" y="8292468"/>
            <a:ext cx="7318296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Persistent WebSocket connections replace inefficient REST polling.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9558779">
            <a:off x="1053064" y="3351893"/>
            <a:ext cx="756367" cy="635230"/>
          </a:xfrm>
          <a:custGeom>
            <a:avLst/>
            <a:gdLst/>
            <a:ahLst/>
            <a:cxnLst/>
            <a:rect r="r" b="b" t="t" l="l"/>
            <a:pathLst>
              <a:path h="635230" w="756367">
                <a:moveTo>
                  <a:pt x="0" y="0"/>
                </a:moveTo>
                <a:lnTo>
                  <a:pt x="756368" y="0"/>
                </a:lnTo>
                <a:lnTo>
                  <a:pt x="756368" y="635230"/>
                </a:lnTo>
                <a:lnTo>
                  <a:pt x="0" y="635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2915708">
            <a:off x="971826" y="5017068"/>
            <a:ext cx="807770" cy="678401"/>
          </a:xfrm>
          <a:custGeom>
            <a:avLst/>
            <a:gdLst/>
            <a:ahLst/>
            <a:cxnLst/>
            <a:rect r="r" b="b" t="t" l="l"/>
            <a:pathLst>
              <a:path h="678401" w="807770">
                <a:moveTo>
                  <a:pt x="0" y="0"/>
                </a:moveTo>
                <a:lnTo>
                  <a:pt x="807770" y="0"/>
                </a:lnTo>
                <a:lnTo>
                  <a:pt x="807770" y="678401"/>
                </a:lnTo>
                <a:lnTo>
                  <a:pt x="0" y="6784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9733968">
            <a:off x="997527" y="7009105"/>
            <a:ext cx="756367" cy="635230"/>
          </a:xfrm>
          <a:custGeom>
            <a:avLst/>
            <a:gdLst/>
            <a:ahLst/>
            <a:cxnLst/>
            <a:rect r="r" b="b" t="t" l="l"/>
            <a:pathLst>
              <a:path h="635230" w="756367">
                <a:moveTo>
                  <a:pt x="0" y="0"/>
                </a:moveTo>
                <a:lnTo>
                  <a:pt x="756367" y="0"/>
                </a:lnTo>
                <a:lnTo>
                  <a:pt x="756367" y="635231"/>
                </a:lnTo>
                <a:lnTo>
                  <a:pt x="0" y="635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8834275">
            <a:off x="16391214" y="2271280"/>
            <a:ext cx="756367" cy="635230"/>
          </a:xfrm>
          <a:custGeom>
            <a:avLst/>
            <a:gdLst/>
            <a:ahLst/>
            <a:cxnLst/>
            <a:rect r="r" b="b" t="t" l="l"/>
            <a:pathLst>
              <a:path h="635230" w="756367">
                <a:moveTo>
                  <a:pt x="0" y="0"/>
                </a:moveTo>
                <a:lnTo>
                  <a:pt x="756368" y="0"/>
                </a:lnTo>
                <a:lnTo>
                  <a:pt x="756368" y="635230"/>
                </a:lnTo>
                <a:lnTo>
                  <a:pt x="0" y="635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4303557">
            <a:off x="16460935" y="6532846"/>
            <a:ext cx="756367" cy="635230"/>
          </a:xfrm>
          <a:custGeom>
            <a:avLst/>
            <a:gdLst/>
            <a:ahLst/>
            <a:cxnLst/>
            <a:rect r="r" b="b" t="t" l="l"/>
            <a:pathLst>
              <a:path h="635230" w="756367">
                <a:moveTo>
                  <a:pt x="0" y="0"/>
                </a:moveTo>
                <a:lnTo>
                  <a:pt x="756367" y="0"/>
                </a:lnTo>
                <a:lnTo>
                  <a:pt x="756367" y="635231"/>
                </a:lnTo>
                <a:lnTo>
                  <a:pt x="0" y="635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3591843">
            <a:off x="16416563" y="4425144"/>
            <a:ext cx="756367" cy="635230"/>
          </a:xfrm>
          <a:custGeom>
            <a:avLst/>
            <a:gdLst/>
            <a:ahLst/>
            <a:cxnLst/>
            <a:rect r="r" b="b" t="t" l="l"/>
            <a:pathLst>
              <a:path h="635230" w="756367">
                <a:moveTo>
                  <a:pt x="0" y="0"/>
                </a:moveTo>
                <a:lnTo>
                  <a:pt x="756367" y="0"/>
                </a:lnTo>
                <a:lnTo>
                  <a:pt x="756367" y="635230"/>
                </a:lnTo>
                <a:lnTo>
                  <a:pt x="0" y="635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8377511">
            <a:off x="16460935" y="8621821"/>
            <a:ext cx="756367" cy="635230"/>
          </a:xfrm>
          <a:custGeom>
            <a:avLst/>
            <a:gdLst/>
            <a:ahLst/>
            <a:cxnLst/>
            <a:rect r="r" b="b" t="t" l="l"/>
            <a:pathLst>
              <a:path h="635230" w="756367">
                <a:moveTo>
                  <a:pt x="0" y="0"/>
                </a:moveTo>
                <a:lnTo>
                  <a:pt x="756367" y="0"/>
                </a:lnTo>
                <a:lnTo>
                  <a:pt x="756367" y="635230"/>
                </a:lnTo>
                <a:lnTo>
                  <a:pt x="0" y="635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3553016" cy="508064"/>
            <a:chOff x="0" y="0"/>
            <a:chExt cx="4737354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37354" cy="677418"/>
            </a:xfrm>
            <a:custGeom>
              <a:avLst/>
              <a:gdLst/>
              <a:ahLst/>
              <a:cxnLst/>
              <a:rect r="r" b="b" t="t" l="l"/>
              <a:pathLst>
                <a:path h="677418" w="4737354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4398645" y="0"/>
                  </a:lnTo>
                  <a:cubicBezTo>
                    <a:pt x="4585716" y="0"/>
                    <a:pt x="4737354" y="151638"/>
                    <a:pt x="4737354" y="338709"/>
                  </a:cubicBezTo>
                  <a:cubicBezTo>
                    <a:pt x="4737354" y="525780"/>
                    <a:pt x="4585716" y="677418"/>
                    <a:pt x="4398645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3538728" cy="493776"/>
            <a:chOff x="0" y="0"/>
            <a:chExt cx="4718304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18304" cy="658368"/>
            </a:xfrm>
            <a:custGeom>
              <a:avLst/>
              <a:gdLst/>
              <a:ahLst/>
              <a:cxnLst/>
              <a:rect r="r" b="b" t="t" l="l"/>
              <a:pathLst>
                <a:path h="658368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718304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PROJECT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30471" y="607695"/>
            <a:ext cx="3859530" cy="512826"/>
            <a:chOff x="0" y="0"/>
            <a:chExt cx="51460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46040" cy="683768"/>
            </a:xfrm>
            <a:custGeom>
              <a:avLst/>
              <a:gdLst/>
              <a:ahLst/>
              <a:cxnLst/>
              <a:rect r="r" b="b" t="t" l="l"/>
              <a:pathLst>
                <a:path h="683768" w="51460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804156" y="0"/>
                  </a:lnTo>
                  <a:cubicBezTo>
                    <a:pt x="4993005" y="0"/>
                    <a:pt x="5146040" y="153035"/>
                    <a:pt x="5146040" y="341884"/>
                  </a:cubicBezTo>
                  <a:cubicBezTo>
                    <a:pt x="5146040" y="530733"/>
                    <a:pt x="4993005" y="683768"/>
                    <a:pt x="48041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539996" y="617220"/>
            <a:ext cx="3840480" cy="493776"/>
            <a:chOff x="0" y="0"/>
            <a:chExt cx="5120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658368"/>
            </a:xfrm>
            <a:custGeom>
              <a:avLst/>
              <a:gdLst/>
              <a:ahLst/>
              <a:cxnLst/>
              <a:rect r="r" b="b" t="t" l="l"/>
              <a:pathLst>
                <a:path h="65836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120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Goals &amp; Target Audience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Project Goals &amp; Target Users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38408" y="2331720"/>
            <a:ext cx="9282663" cy="4408669"/>
            <a:chOff x="0" y="0"/>
            <a:chExt cx="14030714" cy="6663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030713" cy="6663689"/>
            </a:xfrm>
            <a:custGeom>
              <a:avLst/>
              <a:gdLst/>
              <a:ahLst/>
              <a:cxnLst/>
              <a:rect r="r" b="b" t="t" l="l"/>
              <a:pathLst>
                <a:path h="6663689" w="14030713">
                  <a:moveTo>
                    <a:pt x="0" y="156835"/>
                  </a:moveTo>
                  <a:cubicBezTo>
                    <a:pt x="0" y="70177"/>
                    <a:pt x="103294" y="0"/>
                    <a:pt x="230846" y="0"/>
                  </a:cubicBezTo>
                  <a:lnTo>
                    <a:pt x="13799868" y="0"/>
                  </a:lnTo>
                  <a:cubicBezTo>
                    <a:pt x="13927286" y="0"/>
                    <a:pt x="14030713" y="70177"/>
                    <a:pt x="14030713" y="156835"/>
                  </a:cubicBezTo>
                  <a:lnTo>
                    <a:pt x="14030713" y="6506853"/>
                  </a:lnTo>
                  <a:cubicBezTo>
                    <a:pt x="14030713" y="6593421"/>
                    <a:pt x="13927418" y="6663689"/>
                    <a:pt x="13799868" y="6663689"/>
                  </a:cubicBezTo>
                  <a:lnTo>
                    <a:pt x="230846" y="6663689"/>
                  </a:lnTo>
                  <a:cubicBezTo>
                    <a:pt x="103294" y="6663689"/>
                    <a:pt x="0" y="6593511"/>
                    <a:pt x="0" y="650685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147304" y="2750344"/>
            <a:ext cx="9409176" cy="466344"/>
            <a:chOff x="0" y="0"/>
            <a:chExt cx="12545568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45568" cy="621792"/>
            </a:xfrm>
            <a:custGeom>
              <a:avLst/>
              <a:gdLst/>
              <a:ahLst/>
              <a:cxnLst/>
              <a:rect r="r" b="b" t="t" l="l"/>
              <a:pathLst>
                <a:path h="621792" w="12545568">
                  <a:moveTo>
                    <a:pt x="0" y="0"/>
                  </a:moveTo>
                  <a:lnTo>
                    <a:pt x="12545568" y="0"/>
                  </a:lnTo>
                  <a:lnTo>
                    <a:pt x="1254556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139" r="0" b="-34313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54556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PRIMARY OBJECTIVES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238744" y="3298222"/>
            <a:ext cx="8559481" cy="272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311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Secure user registration and JWT-based authentication.</a:t>
            </a:r>
          </a:p>
          <a:p>
            <a:pPr algn="l" marL="434340" indent="-217170" lvl="1">
              <a:lnSpc>
                <a:spcPts val="311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Support for private &amp; group chats, real-time exchange, editing, and deletion.</a:t>
            </a:r>
          </a:p>
          <a:p>
            <a:pPr algn="l" marL="434340" indent="-217170" lvl="1">
              <a:lnSpc>
                <a:spcPts val="311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File sharing, presence tracking, chat folders, voice calls, and translation.</a:t>
            </a:r>
          </a:p>
          <a:p>
            <a:pPr algn="l" marL="434340" indent="-217170" lvl="1">
              <a:lnSpc>
                <a:spcPts val="3110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Clear separation between presentation, business logic, and data access.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832800" y="5446674"/>
            <a:ext cx="5952744" cy="466344"/>
            <a:chOff x="0" y="0"/>
            <a:chExt cx="7936992" cy="6217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36992" cy="621792"/>
            </a:xfrm>
            <a:custGeom>
              <a:avLst/>
              <a:gdLst/>
              <a:ahLst/>
              <a:cxnLst/>
              <a:rect r="r" b="b" t="t" l="l"/>
              <a:pathLst>
                <a:path h="621792" w="7936992">
                  <a:moveTo>
                    <a:pt x="0" y="0"/>
                  </a:moveTo>
                  <a:lnTo>
                    <a:pt x="7936992" y="0"/>
                  </a:lnTo>
                  <a:lnTo>
                    <a:pt x="79369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720" r="0" b="-19872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793699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INDIVIDUAL &amp; GROUP USERS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24240" y="5994552"/>
            <a:ext cx="576986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Direct messaging and team collaboration.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839944" y="6699402"/>
            <a:ext cx="5952744" cy="466344"/>
            <a:chOff x="0" y="0"/>
            <a:chExt cx="7936992" cy="6217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36992" cy="621792"/>
            </a:xfrm>
            <a:custGeom>
              <a:avLst/>
              <a:gdLst/>
              <a:ahLst/>
              <a:cxnLst/>
              <a:rect r="r" b="b" t="t" l="l"/>
              <a:pathLst>
                <a:path h="621792" w="7936992">
                  <a:moveTo>
                    <a:pt x="0" y="0"/>
                  </a:moveTo>
                  <a:lnTo>
                    <a:pt x="7936992" y="0"/>
                  </a:lnTo>
                  <a:lnTo>
                    <a:pt x="79369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720" r="0" b="-19872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793699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DESKTOP USERS (WINDOWS)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931384" y="7247280"/>
            <a:ext cx="576986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Native WPF client for deep OS integration.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885664" y="7990230"/>
            <a:ext cx="5952744" cy="466344"/>
            <a:chOff x="0" y="0"/>
            <a:chExt cx="793699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36992" cy="621792"/>
            </a:xfrm>
            <a:custGeom>
              <a:avLst/>
              <a:gdLst/>
              <a:ahLst/>
              <a:cxnLst/>
              <a:rect r="r" b="b" t="t" l="l"/>
              <a:pathLst>
                <a:path h="621792" w="7936992">
                  <a:moveTo>
                    <a:pt x="0" y="0"/>
                  </a:moveTo>
                  <a:lnTo>
                    <a:pt x="7936992" y="0"/>
                  </a:lnTo>
                  <a:lnTo>
                    <a:pt x="79369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720" r="0" b="-19872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93699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 USERS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977104" y="8538108"/>
            <a:ext cx="576986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Flexible browser-based access without installation.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03 / 20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1116028" y="5487661"/>
            <a:ext cx="624300" cy="525941"/>
          </a:xfrm>
          <a:custGeom>
            <a:avLst/>
            <a:gdLst/>
            <a:ahLst/>
            <a:cxnLst/>
            <a:rect r="r" b="b" t="t" l="l"/>
            <a:pathLst>
              <a:path h="525941" w="624300">
                <a:moveTo>
                  <a:pt x="0" y="0"/>
                </a:moveTo>
                <a:lnTo>
                  <a:pt x="624301" y="0"/>
                </a:lnTo>
                <a:lnTo>
                  <a:pt x="624301" y="525941"/>
                </a:lnTo>
                <a:lnTo>
                  <a:pt x="0" y="52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23172" y="6740389"/>
            <a:ext cx="624300" cy="525941"/>
          </a:xfrm>
          <a:custGeom>
            <a:avLst/>
            <a:gdLst/>
            <a:ahLst/>
            <a:cxnLst/>
            <a:rect r="r" b="b" t="t" l="l"/>
            <a:pathLst>
              <a:path h="525941" w="624300">
                <a:moveTo>
                  <a:pt x="0" y="0"/>
                </a:moveTo>
                <a:lnTo>
                  <a:pt x="624300" y="0"/>
                </a:lnTo>
                <a:lnTo>
                  <a:pt x="624300" y="525941"/>
                </a:lnTo>
                <a:lnTo>
                  <a:pt x="0" y="52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23172" y="8026806"/>
            <a:ext cx="624300" cy="525941"/>
          </a:xfrm>
          <a:custGeom>
            <a:avLst/>
            <a:gdLst/>
            <a:ahLst/>
            <a:cxnLst/>
            <a:rect r="r" b="b" t="t" l="l"/>
            <a:pathLst>
              <a:path h="525941" w="624300">
                <a:moveTo>
                  <a:pt x="0" y="0"/>
                </a:moveTo>
                <a:lnTo>
                  <a:pt x="624300" y="0"/>
                </a:lnTo>
                <a:lnTo>
                  <a:pt x="624300" y="525941"/>
                </a:lnTo>
                <a:lnTo>
                  <a:pt x="0" y="525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-2867267">
            <a:off x="16063053" y="-930801"/>
            <a:ext cx="2353585" cy="2285879"/>
          </a:xfrm>
          <a:custGeom>
            <a:avLst/>
            <a:gdLst/>
            <a:ahLst/>
            <a:cxnLst/>
            <a:rect r="r" b="b" t="t" l="l"/>
            <a:pathLst>
              <a:path h="2285879" w="2353585">
                <a:moveTo>
                  <a:pt x="0" y="0"/>
                </a:moveTo>
                <a:lnTo>
                  <a:pt x="2353584" y="0"/>
                </a:lnTo>
                <a:lnTo>
                  <a:pt x="2353584" y="2285879"/>
                </a:lnTo>
                <a:lnTo>
                  <a:pt x="0" y="2285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-2867267">
            <a:off x="17111208" y="7345562"/>
            <a:ext cx="2353585" cy="2285879"/>
          </a:xfrm>
          <a:custGeom>
            <a:avLst/>
            <a:gdLst/>
            <a:ahLst/>
            <a:cxnLst/>
            <a:rect r="r" b="b" t="t" l="l"/>
            <a:pathLst>
              <a:path h="2285879" w="2353585">
                <a:moveTo>
                  <a:pt x="0" y="0"/>
                </a:moveTo>
                <a:lnTo>
                  <a:pt x="2353584" y="0"/>
                </a:lnTo>
                <a:lnTo>
                  <a:pt x="2353584" y="2285878"/>
                </a:lnTo>
                <a:lnTo>
                  <a:pt x="0" y="228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-2867267">
            <a:off x="-621327" y="2559439"/>
            <a:ext cx="2353585" cy="2285879"/>
          </a:xfrm>
          <a:custGeom>
            <a:avLst/>
            <a:gdLst/>
            <a:ahLst/>
            <a:cxnLst/>
            <a:rect r="r" b="b" t="t" l="l"/>
            <a:pathLst>
              <a:path h="2285879" w="2353585">
                <a:moveTo>
                  <a:pt x="0" y="0"/>
                </a:moveTo>
                <a:lnTo>
                  <a:pt x="2353585" y="0"/>
                </a:lnTo>
                <a:lnTo>
                  <a:pt x="2353585" y="2285878"/>
                </a:lnTo>
                <a:lnTo>
                  <a:pt x="0" y="2285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483167" cy="508064"/>
            <a:chOff x="0" y="0"/>
            <a:chExt cx="331089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10890" cy="677418"/>
            </a:xfrm>
            <a:custGeom>
              <a:avLst/>
              <a:gdLst/>
              <a:ahLst/>
              <a:cxnLst/>
              <a:rect r="r" b="b" t="t" l="l"/>
              <a:pathLst>
                <a:path h="677418" w="331089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972181" y="0"/>
                  </a:lnTo>
                  <a:cubicBezTo>
                    <a:pt x="3159252" y="0"/>
                    <a:pt x="3310890" y="151638"/>
                    <a:pt x="3310890" y="338709"/>
                  </a:cubicBezTo>
                  <a:cubicBezTo>
                    <a:pt x="3310890" y="525780"/>
                    <a:pt x="3159252" y="677418"/>
                    <a:pt x="297218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468880" cy="493776"/>
            <a:chOff x="0" y="0"/>
            <a:chExt cx="329184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2918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MANAGEMENT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460623" y="607695"/>
            <a:ext cx="2487930" cy="512826"/>
            <a:chOff x="0" y="0"/>
            <a:chExt cx="33172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17240" cy="683768"/>
            </a:xfrm>
            <a:custGeom>
              <a:avLst/>
              <a:gdLst/>
              <a:ahLst/>
              <a:cxnLst/>
              <a:rect r="r" b="b" t="t" l="l"/>
              <a:pathLst>
                <a:path h="683768" w="33172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2975356" y="0"/>
                  </a:lnTo>
                  <a:cubicBezTo>
                    <a:pt x="3164205" y="0"/>
                    <a:pt x="3317240" y="153035"/>
                    <a:pt x="3317240" y="341884"/>
                  </a:cubicBezTo>
                  <a:cubicBezTo>
                    <a:pt x="3317240" y="530733"/>
                    <a:pt x="3164205" y="683768"/>
                    <a:pt x="29753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470148" y="617220"/>
            <a:ext cx="2468880" cy="493776"/>
            <a:chOff x="0" y="0"/>
            <a:chExt cx="32918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2918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Team Roles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Team Organization &amp; Responsibility Distribution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407684" y="2644779"/>
            <a:ext cx="5432108" cy="2488597"/>
            <a:chOff x="0" y="0"/>
            <a:chExt cx="7242810" cy="3318129"/>
          </a:xfrm>
        </p:grpSpPr>
        <p:sp>
          <p:nvSpPr>
            <p:cNvPr name="Freeform 16" id="16"/>
            <p:cNvSpPr/>
            <p:nvPr/>
          </p:nvSpPr>
          <p:spPr>
            <a:xfrm flipH="false" flipV="false" rot="6274320">
              <a:off x="1142417" y="-2243797"/>
              <a:ext cx="4957976" cy="7805724"/>
            </a:xfrm>
            <a:custGeom>
              <a:avLst/>
              <a:gdLst/>
              <a:ahLst/>
              <a:cxnLst/>
              <a:rect r="r" b="b" t="t" l="l"/>
              <a:pathLst>
                <a:path h="7805724" w="4957976">
                  <a:moveTo>
                    <a:pt x="1863131" y="7804729"/>
                  </a:moveTo>
                  <a:cubicBezTo>
                    <a:pt x="1819668" y="7816027"/>
                    <a:pt x="1759629" y="7729807"/>
                    <a:pt x="1729051" y="7612178"/>
                  </a:cubicBezTo>
                  <a:lnTo>
                    <a:pt x="17533" y="1028376"/>
                  </a:lnTo>
                  <a:cubicBezTo>
                    <a:pt x="-13046" y="910747"/>
                    <a:pt x="-2598" y="806203"/>
                    <a:pt x="40865" y="794904"/>
                  </a:cubicBezTo>
                  <a:lnTo>
                    <a:pt x="3094844" y="995"/>
                  </a:lnTo>
                  <a:cubicBezTo>
                    <a:pt x="3138308" y="-10304"/>
                    <a:pt x="3198346" y="75916"/>
                    <a:pt x="3228925" y="193546"/>
                  </a:cubicBezTo>
                  <a:lnTo>
                    <a:pt x="4940443" y="6777348"/>
                  </a:lnTo>
                  <a:cubicBezTo>
                    <a:pt x="4971021" y="6894977"/>
                    <a:pt x="4960574" y="6999521"/>
                    <a:pt x="4917110" y="7010820"/>
                  </a:cubicBezTo>
                  <a:close/>
                </a:path>
              </a:pathLst>
            </a:custGeom>
            <a:blipFill>
              <a:blip r:embed="rId4"/>
              <a:stretch>
                <a:fillRect l="-44197" t="-249" r="-44197" b="-249"/>
              </a:stretch>
            </a:blip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412084" y="2644779"/>
            <a:ext cx="5432108" cy="2488597"/>
            <a:chOff x="0" y="0"/>
            <a:chExt cx="7242810" cy="3318129"/>
          </a:xfrm>
        </p:grpSpPr>
        <p:sp>
          <p:nvSpPr>
            <p:cNvPr name="Freeform 18" id="18"/>
            <p:cNvSpPr/>
            <p:nvPr/>
          </p:nvSpPr>
          <p:spPr>
            <a:xfrm flipH="false" flipV="false" rot="6274320">
              <a:off x="1142417" y="-2243797"/>
              <a:ext cx="4957976" cy="7805724"/>
            </a:xfrm>
            <a:custGeom>
              <a:avLst/>
              <a:gdLst/>
              <a:ahLst/>
              <a:cxnLst/>
              <a:rect r="r" b="b" t="t" l="l"/>
              <a:pathLst>
                <a:path h="7805724" w="4957976">
                  <a:moveTo>
                    <a:pt x="1863131" y="7804729"/>
                  </a:moveTo>
                  <a:cubicBezTo>
                    <a:pt x="1819668" y="7816027"/>
                    <a:pt x="1759629" y="7729807"/>
                    <a:pt x="1729051" y="7612178"/>
                  </a:cubicBezTo>
                  <a:lnTo>
                    <a:pt x="17533" y="1028376"/>
                  </a:lnTo>
                  <a:cubicBezTo>
                    <a:pt x="-13046" y="910747"/>
                    <a:pt x="-2598" y="806203"/>
                    <a:pt x="40865" y="794904"/>
                  </a:cubicBezTo>
                  <a:lnTo>
                    <a:pt x="3094844" y="995"/>
                  </a:lnTo>
                  <a:cubicBezTo>
                    <a:pt x="3138308" y="-10304"/>
                    <a:pt x="3198346" y="75916"/>
                    <a:pt x="3228925" y="193546"/>
                  </a:cubicBezTo>
                  <a:lnTo>
                    <a:pt x="4940443" y="6777348"/>
                  </a:lnTo>
                  <a:cubicBezTo>
                    <a:pt x="4971021" y="6894977"/>
                    <a:pt x="4960574" y="6999521"/>
                    <a:pt x="4917110" y="7010820"/>
                  </a:cubicBezTo>
                  <a:close/>
                </a:path>
              </a:pathLst>
            </a:custGeom>
            <a:blipFill>
              <a:blip r:embed="rId4"/>
              <a:stretch>
                <a:fillRect l="-44197" t="-249" r="-44197" b="-249"/>
              </a:stretch>
            </a:blip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796132" y="2807911"/>
            <a:ext cx="850392" cy="850392"/>
            <a:chOff x="0" y="0"/>
            <a:chExt cx="1133856" cy="1133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796132" y="2807911"/>
            <a:ext cx="850392" cy="850392"/>
            <a:chOff x="0" y="0"/>
            <a:chExt cx="1133856" cy="1133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133856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SK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52264" y="2807911"/>
            <a:ext cx="3634740" cy="850392"/>
            <a:chOff x="0" y="0"/>
            <a:chExt cx="4846320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463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82" r="0" b="-3328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84632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Sofii</a:t>
              </a: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 Khyzhnychenko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887572" y="4000441"/>
            <a:ext cx="4466844" cy="58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Requirements Management, Architecture, Documentation 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412084" y="5828678"/>
            <a:ext cx="5432108" cy="2440288"/>
            <a:chOff x="0" y="0"/>
            <a:chExt cx="7242810" cy="3253718"/>
          </a:xfrm>
        </p:grpSpPr>
        <p:sp>
          <p:nvSpPr>
            <p:cNvPr name="Freeform 29" id="29"/>
            <p:cNvSpPr/>
            <p:nvPr/>
          </p:nvSpPr>
          <p:spPr>
            <a:xfrm flipH="false" flipV="false" rot="6274320">
              <a:off x="1173305" y="-2268259"/>
              <a:ext cx="4896200" cy="7790236"/>
            </a:xfrm>
            <a:custGeom>
              <a:avLst/>
              <a:gdLst/>
              <a:ahLst/>
              <a:cxnLst/>
              <a:rect r="r" b="b" t="t" l="l"/>
              <a:pathLst>
                <a:path h="7790236" w="4896200">
                  <a:moveTo>
                    <a:pt x="1861885" y="7789279"/>
                  </a:moveTo>
                  <a:cubicBezTo>
                    <a:pt x="1819265" y="7800359"/>
                    <a:pt x="1759911" y="7713961"/>
                    <a:pt x="1729332" y="7596332"/>
                  </a:cubicBezTo>
                  <a:lnTo>
                    <a:pt x="17814" y="1012530"/>
                  </a:lnTo>
                  <a:cubicBezTo>
                    <a:pt x="-12765" y="894900"/>
                    <a:pt x="-3001" y="790534"/>
                    <a:pt x="39619" y="779455"/>
                  </a:cubicBezTo>
                  <a:lnTo>
                    <a:pt x="3034314" y="957"/>
                  </a:lnTo>
                  <a:cubicBezTo>
                    <a:pt x="3076934" y="-10122"/>
                    <a:pt x="3136289" y="76276"/>
                    <a:pt x="3166868" y="193905"/>
                  </a:cubicBezTo>
                  <a:lnTo>
                    <a:pt x="4878386" y="6777707"/>
                  </a:lnTo>
                  <a:cubicBezTo>
                    <a:pt x="4908964" y="6895337"/>
                    <a:pt x="4899200" y="6999702"/>
                    <a:pt x="4856580" y="7010782"/>
                  </a:cubicBezTo>
                  <a:close/>
                </a:path>
              </a:pathLst>
            </a:custGeom>
            <a:blipFill>
              <a:blip r:embed="rId4"/>
              <a:stretch>
                <a:fillRect l="-45189" t="-245" r="-45189" b="-245"/>
              </a:stretch>
            </a:blip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2793465" y="6181457"/>
            <a:ext cx="850392" cy="850392"/>
            <a:chOff x="0" y="0"/>
            <a:chExt cx="1133856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793465" y="6181457"/>
            <a:ext cx="850392" cy="850392"/>
            <a:chOff x="0" y="0"/>
            <a:chExt cx="1133856" cy="1133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1133856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VZ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849597" y="6181457"/>
            <a:ext cx="3634740" cy="850392"/>
            <a:chOff x="0" y="0"/>
            <a:chExt cx="4846320" cy="1133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463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82" r="0" b="-3328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84632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Vladyslav Zaplitniy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884905" y="7373987"/>
            <a:ext cx="4466844" cy="28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Backend and Client Implementation 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778302" y="2918592"/>
            <a:ext cx="850392" cy="850392"/>
            <a:chOff x="0" y="0"/>
            <a:chExt cx="1133856" cy="1133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778302" y="2918592"/>
            <a:ext cx="850392" cy="850392"/>
            <a:chOff x="0" y="0"/>
            <a:chExt cx="1133856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1133856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834434" y="2918592"/>
            <a:ext cx="3634740" cy="850392"/>
            <a:chOff x="0" y="0"/>
            <a:chExt cx="4846320" cy="1133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463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82" r="0" b="-332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484632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Anna </a:t>
              </a: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Kornet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869742" y="4111122"/>
            <a:ext cx="4466844" cy="28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User Interface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04 / 20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407684" y="5828678"/>
            <a:ext cx="5432108" cy="2440288"/>
            <a:chOff x="0" y="0"/>
            <a:chExt cx="7242810" cy="3253718"/>
          </a:xfrm>
        </p:grpSpPr>
        <p:sp>
          <p:nvSpPr>
            <p:cNvPr name="Freeform 55" id="55"/>
            <p:cNvSpPr/>
            <p:nvPr/>
          </p:nvSpPr>
          <p:spPr>
            <a:xfrm flipH="false" flipV="false" rot="6274320">
              <a:off x="1173305" y="-2268259"/>
              <a:ext cx="4896200" cy="7790236"/>
            </a:xfrm>
            <a:custGeom>
              <a:avLst/>
              <a:gdLst/>
              <a:ahLst/>
              <a:cxnLst/>
              <a:rect r="r" b="b" t="t" l="l"/>
              <a:pathLst>
                <a:path h="7790236" w="4896200">
                  <a:moveTo>
                    <a:pt x="1861885" y="7789279"/>
                  </a:moveTo>
                  <a:cubicBezTo>
                    <a:pt x="1819265" y="7800359"/>
                    <a:pt x="1759911" y="7713961"/>
                    <a:pt x="1729332" y="7596332"/>
                  </a:cubicBezTo>
                  <a:lnTo>
                    <a:pt x="17814" y="1012530"/>
                  </a:lnTo>
                  <a:cubicBezTo>
                    <a:pt x="-12765" y="894900"/>
                    <a:pt x="-3001" y="790534"/>
                    <a:pt x="39619" y="779455"/>
                  </a:cubicBezTo>
                  <a:lnTo>
                    <a:pt x="3034314" y="957"/>
                  </a:lnTo>
                  <a:cubicBezTo>
                    <a:pt x="3076934" y="-10122"/>
                    <a:pt x="3136289" y="76276"/>
                    <a:pt x="3166868" y="193905"/>
                  </a:cubicBezTo>
                  <a:lnTo>
                    <a:pt x="4878386" y="6777707"/>
                  </a:lnTo>
                  <a:cubicBezTo>
                    <a:pt x="4908964" y="6895337"/>
                    <a:pt x="4899200" y="6999702"/>
                    <a:pt x="4856580" y="7010782"/>
                  </a:cubicBezTo>
                  <a:close/>
                </a:path>
              </a:pathLst>
            </a:custGeom>
            <a:blipFill>
              <a:blip r:embed="rId4"/>
              <a:stretch>
                <a:fillRect l="-45189" t="-245" r="-45189" b="-245"/>
              </a:stretch>
            </a:blip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789065" y="6181457"/>
            <a:ext cx="850392" cy="850392"/>
            <a:chOff x="0" y="0"/>
            <a:chExt cx="1133856" cy="11338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89065" y="6181457"/>
            <a:ext cx="850392" cy="850392"/>
            <a:chOff x="0" y="0"/>
            <a:chExt cx="1133856" cy="11338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9525"/>
              <a:ext cx="1133856" cy="11243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HHK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845197" y="6181457"/>
            <a:ext cx="3634740" cy="850392"/>
            <a:chOff x="0" y="0"/>
            <a:chExt cx="4846320" cy="113385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46320" cy="1133856"/>
            </a:xfrm>
            <a:custGeom>
              <a:avLst/>
              <a:gdLst/>
              <a:ahLst/>
              <a:cxnLst/>
              <a:rect r="r" b="b" t="t" l="l"/>
              <a:pathLst>
                <a:path h="1133856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282" r="0" b="-332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4846320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Ha</a:t>
              </a:r>
              <a:r>
                <a:rPr lang="en-US" b="true" sz="22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lil Hakan Karabay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9880505" y="7373987"/>
            <a:ext cx="4466844" cy="28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6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Testing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STACK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3310890" cy="512826"/>
            <a:chOff x="0" y="0"/>
            <a:chExt cx="441452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683768"/>
            </a:xfrm>
            <a:custGeom>
              <a:avLst/>
              <a:gdLst/>
              <a:ahLst/>
              <a:cxnLst/>
              <a:rect r="r" b="b" t="t" l="l"/>
              <a:pathLst>
                <a:path h="683768" w="44145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072636" y="0"/>
                  </a:lnTo>
                  <a:cubicBezTo>
                    <a:pt x="4261485" y="0"/>
                    <a:pt x="4414520" y="153035"/>
                    <a:pt x="4414520" y="341884"/>
                  </a:cubicBezTo>
                  <a:cubicBezTo>
                    <a:pt x="4414520" y="530733"/>
                    <a:pt x="4261485" y="683768"/>
                    <a:pt x="40726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3291840" cy="493776"/>
            <a:chOff x="0" y="0"/>
            <a:chExt cx="438912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9120" cy="658368"/>
            </a:xfrm>
            <a:custGeom>
              <a:avLst/>
              <a:gdLst/>
              <a:ahLst/>
              <a:cxnLst/>
              <a:rect r="r" b="b" t="t" l="l"/>
              <a:pathLst>
                <a:path h="658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389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Technology Overview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Full Technology Stack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7236" y="2598896"/>
            <a:ext cx="8106728" cy="2071688"/>
            <a:chOff x="0" y="0"/>
            <a:chExt cx="10808970" cy="2762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0897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0808970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587990" y="0"/>
                  </a:lnTo>
                  <a:cubicBezTo>
                    <a:pt x="10710037" y="0"/>
                    <a:pt x="10808970" y="98933"/>
                    <a:pt x="10808970" y="220980"/>
                  </a:cubicBezTo>
                  <a:lnTo>
                    <a:pt x="10808970" y="2541270"/>
                  </a:lnTo>
                  <a:cubicBezTo>
                    <a:pt x="10808970" y="2663317"/>
                    <a:pt x="10710037" y="2762250"/>
                    <a:pt x="10587990" y="2762250"/>
                  </a:cubicBezTo>
                  <a:lnTo>
                    <a:pt x="220980" y="2762250"/>
                  </a:lnTo>
                  <a:cubicBezTo>
                    <a:pt x="98933" y="2762250"/>
                    <a:pt x="0" y="2663317"/>
                    <a:pt x="0" y="25412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56132" y="3017520"/>
            <a:ext cx="7488936" cy="466344"/>
            <a:chOff x="0" y="0"/>
            <a:chExt cx="9985248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85248" cy="621792"/>
            </a:xfrm>
            <a:custGeom>
              <a:avLst/>
              <a:gdLst/>
              <a:ahLst/>
              <a:cxnLst/>
              <a:rect r="r" b="b" t="t" l="l"/>
              <a:pathLst>
                <a:path h="621792" w="9985248">
                  <a:moveTo>
                    <a:pt x="0" y="0"/>
                  </a:moveTo>
                  <a:lnTo>
                    <a:pt x="9985248" y="0"/>
                  </a:lnTo>
                  <a:lnTo>
                    <a:pt x="998524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906" r="0" b="-2629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98524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BACKEND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7572" y="3565398"/>
            <a:ext cx="7306056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ASP.NET Core 8 (C#) — REST API and application logic.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13996" y="2598896"/>
            <a:ext cx="8422196" cy="2071688"/>
            <a:chOff x="0" y="0"/>
            <a:chExt cx="11229594" cy="2762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229594" cy="2762250"/>
            </a:xfrm>
            <a:custGeom>
              <a:avLst/>
              <a:gdLst/>
              <a:ahLst/>
              <a:cxnLst/>
              <a:rect r="r" b="b" t="t" l="l"/>
              <a:pathLst>
                <a:path h="2762250" w="1122959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1008614" y="0"/>
                  </a:lnTo>
                  <a:cubicBezTo>
                    <a:pt x="11130661" y="0"/>
                    <a:pt x="11229594" y="98933"/>
                    <a:pt x="11229594" y="220980"/>
                  </a:cubicBezTo>
                  <a:lnTo>
                    <a:pt x="11229594" y="2541270"/>
                  </a:lnTo>
                  <a:cubicBezTo>
                    <a:pt x="11229594" y="2663317"/>
                    <a:pt x="11130661" y="2762250"/>
                    <a:pt x="11008614" y="2762250"/>
                  </a:cubicBezTo>
                  <a:lnTo>
                    <a:pt x="220980" y="2762250"/>
                  </a:lnTo>
                  <a:cubicBezTo>
                    <a:pt x="98933" y="2762250"/>
                    <a:pt x="0" y="2663317"/>
                    <a:pt x="0" y="254127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22892" y="3017520"/>
            <a:ext cx="7804404" cy="466344"/>
            <a:chOff x="0" y="0"/>
            <a:chExt cx="10405872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05872" cy="621792"/>
            </a:xfrm>
            <a:custGeom>
              <a:avLst/>
              <a:gdLst/>
              <a:ahLst/>
              <a:cxnLst/>
              <a:rect r="r" b="b" t="t" l="l"/>
              <a:pathLst>
                <a:path h="621792" w="10405872">
                  <a:moveTo>
                    <a:pt x="0" y="0"/>
                  </a:moveTo>
                  <a:lnTo>
                    <a:pt x="10405872" y="0"/>
                  </a:lnTo>
                  <a:lnTo>
                    <a:pt x="10405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087" r="0" b="-2760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0405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REALTIME COMMUNICATION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514332" y="3565398"/>
            <a:ext cx="7621524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WebSockets for bidirectional event delivery.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47236" y="4930616"/>
            <a:ext cx="16788956" cy="3237548"/>
            <a:chOff x="0" y="0"/>
            <a:chExt cx="22385274" cy="43167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385274" cy="4316730"/>
            </a:xfrm>
            <a:custGeom>
              <a:avLst/>
              <a:gdLst/>
              <a:ahLst/>
              <a:cxnLst/>
              <a:rect r="r" b="b" t="t" l="l"/>
              <a:pathLst>
                <a:path h="4316730" w="22385274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22164802" y="0"/>
                  </a:lnTo>
                  <a:cubicBezTo>
                    <a:pt x="22286595" y="0"/>
                    <a:pt x="22385274" y="98679"/>
                    <a:pt x="22385274" y="220472"/>
                  </a:cubicBezTo>
                  <a:lnTo>
                    <a:pt x="22385274" y="4096258"/>
                  </a:lnTo>
                  <a:cubicBezTo>
                    <a:pt x="22385274" y="4218051"/>
                    <a:pt x="22286595" y="4316730"/>
                    <a:pt x="22164802" y="4316730"/>
                  </a:cubicBezTo>
                  <a:lnTo>
                    <a:pt x="220472" y="4316730"/>
                  </a:lnTo>
                  <a:cubicBezTo>
                    <a:pt x="98679" y="4316730"/>
                    <a:pt x="0" y="4218051"/>
                    <a:pt x="0" y="409625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132" y="5349240"/>
            <a:ext cx="16171164" cy="466344"/>
            <a:chOff x="0" y="0"/>
            <a:chExt cx="2156155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9753" r="0" b="-173975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DATABASES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47572" y="5897118"/>
            <a:ext cx="15988284" cy="9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Oracle Database:  structured user &amp; account data.</a:t>
            </a:r>
          </a:p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MongoDB:  document-oriented chats, messages, and attachments.</a:t>
            </a:r>
          </a:p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Redis:  in-memory caching, sessions, and presence state.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54380" y="8435340"/>
            <a:ext cx="6858000" cy="411480"/>
            <a:chOff x="0" y="0"/>
            <a:chExt cx="91440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91440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CLIENTS &amp; INFRASTRUCTURE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47236" y="8908256"/>
            <a:ext cx="1989392" cy="480632"/>
            <a:chOff x="0" y="0"/>
            <a:chExt cx="2652522" cy="6408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52522" cy="640842"/>
            </a:xfrm>
            <a:custGeom>
              <a:avLst/>
              <a:gdLst/>
              <a:ahLst/>
              <a:cxnLst/>
              <a:rect r="r" b="b" t="t" l="l"/>
              <a:pathLst>
                <a:path h="640842" w="265252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2332101" y="0"/>
                  </a:lnTo>
                  <a:cubicBezTo>
                    <a:pt x="2509012" y="0"/>
                    <a:pt x="2652522" y="143510"/>
                    <a:pt x="2652522" y="320421"/>
                  </a:cubicBezTo>
                  <a:cubicBezTo>
                    <a:pt x="2652522" y="497332"/>
                    <a:pt x="2509012" y="640842"/>
                    <a:pt x="2332101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754380" y="8915400"/>
            <a:ext cx="1975104" cy="466344"/>
            <a:chOff x="0" y="0"/>
            <a:chExt cx="2633472" cy="6217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33472" cy="621792"/>
            </a:xfrm>
            <a:custGeom>
              <a:avLst/>
              <a:gdLst/>
              <a:ahLst/>
              <a:cxnLst/>
              <a:rect r="r" b="b" t="t" l="l"/>
              <a:pathLst>
                <a:path h="62179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24" r="0" b="-325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6334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WPF (.NET 8)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886932" y="8908256"/>
            <a:ext cx="1859090" cy="480632"/>
            <a:chOff x="0" y="0"/>
            <a:chExt cx="2478786" cy="6408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478786" cy="640842"/>
            </a:xfrm>
            <a:custGeom>
              <a:avLst/>
              <a:gdLst/>
              <a:ahLst/>
              <a:cxnLst/>
              <a:rect r="r" b="b" t="t" l="l"/>
              <a:pathLst>
                <a:path h="640842" w="2478786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2158365" y="0"/>
                  </a:lnTo>
                  <a:cubicBezTo>
                    <a:pt x="2335276" y="0"/>
                    <a:pt x="2478786" y="143510"/>
                    <a:pt x="2478786" y="320421"/>
                  </a:cubicBezTo>
                  <a:cubicBezTo>
                    <a:pt x="2478786" y="497332"/>
                    <a:pt x="2335276" y="640842"/>
                    <a:pt x="2158365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2894076" y="8915400"/>
            <a:ext cx="1844802" cy="466344"/>
            <a:chOff x="0" y="0"/>
            <a:chExt cx="2459736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59736" cy="621792"/>
            </a:xfrm>
            <a:custGeom>
              <a:avLst/>
              <a:gdLst/>
              <a:ahLst/>
              <a:cxnLst/>
              <a:rect r="r" b="b" t="t" l="l"/>
              <a:pathLst>
                <a:path h="621792" w="2459736">
                  <a:moveTo>
                    <a:pt x="0" y="0"/>
                  </a:moveTo>
                  <a:lnTo>
                    <a:pt x="2459736" y="0"/>
                  </a:lnTo>
                  <a:lnTo>
                    <a:pt x="245973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80" r="0" b="-2708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45973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HTML/CSS/JS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896326" y="8908256"/>
            <a:ext cx="1207580" cy="480632"/>
            <a:chOff x="0" y="0"/>
            <a:chExt cx="1610106" cy="64084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10106" cy="640842"/>
            </a:xfrm>
            <a:custGeom>
              <a:avLst/>
              <a:gdLst/>
              <a:ahLst/>
              <a:cxnLst/>
              <a:rect r="r" b="b" t="t" l="l"/>
              <a:pathLst>
                <a:path h="640842" w="1610106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1289685" y="0"/>
                  </a:lnTo>
                  <a:cubicBezTo>
                    <a:pt x="1466596" y="0"/>
                    <a:pt x="1610106" y="143510"/>
                    <a:pt x="1610106" y="320421"/>
                  </a:cubicBezTo>
                  <a:cubicBezTo>
                    <a:pt x="1610106" y="497332"/>
                    <a:pt x="1466596" y="640842"/>
                    <a:pt x="1289685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903470" y="8915400"/>
            <a:ext cx="1193292" cy="466344"/>
            <a:chOff x="0" y="0"/>
            <a:chExt cx="1591056" cy="6217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591056" cy="621792"/>
            </a:xfrm>
            <a:custGeom>
              <a:avLst/>
              <a:gdLst/>
              <a:ahLst/>
              <a:cxnLst/>
              <a:rect r="r" b="b" t="t" l="l"/>
              <a:pathLst>
                <a:path h="621792" w="1591056">
                  <a:moveTo>
                    <a:pt x="0" y="0"/>
                  </a:moveTo>
                  <a:lnTo>
                    <a:pt x="1591056" y="0"/>
                  </a:lnTo>
                  <a:lnTo>
                    <a:pt x="15910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" t="0" r="-14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59105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Docker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254210" y="8908256"/>
            <a:ext cx="1207580" cy="480632"/>
            <a:chOff x="0" y="0"/>
            <a:chExt cx="1610106" cy="6408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610106" cy="640842"/>
            </a:xfrm>
            <a:custGeom>
              <a:avLst/>
              <a:gdLst/>
              <a:ahLst/>
              <a:cxnLst/>
              <a:rect r="r" b="b" t="t" l="l"/>
              <a:pathLst>
                <a:path h="640842" w="1610106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1289685" y="0"/>
                  </a:lnTo>
                  <a:cubicBezTo>
                    <a:pt x="1466596" y="0"/>
                    <a:pt x="1610106" y="143510"/>
                    <a:pt x="1610106" y="320421"/>
                  </a:cubicBezTo>
                  <a:cubicBezTo>
                    <a:pt x="1610106" y="497332"/>
                    <a:pt x="1466596" y="640842"/>
                    <a:pt x="1289685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261354" y="8915400"/>
            <a:ext cx="1193292" cy="466344"/>
            <a:chOff x="0" y="0"/>
            <a:chExt cx="1591056" cy="621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91056" cy="621792"/>
            </a:xfrm>
            <a:custGeom>
              <a:avLst/>
              <a:gdLst/>
              <a:ahLst/>
              <a:cxnLst/>
              <a:rect r="r" b="b" t="t" l="l"/>
              <a:pathLst>
                <a:path h="621792" w="1591056">
                  <a:moveTo>
                    <a:pt x="0" y="0"/>
                  </a:moveTo>
                  <a:lnTo>
                    <a:pt x="1591056" y="0"/>
                  </a:lnTo>
                  <a:lnTo>
                    <a:pt x="15910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" t="0" r="-14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59105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BCrypt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12094" y="8908256"/>
            <a:ext cx="974407" cy="480632"/>
            <a:chOff x="0" y="0"/>
            <a:chExt cx="1299210" cy="64084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99210" cy="640842"/>
            </a:xfrm>
            <a:custGeom>
              <a:avLst/>
              <a:gdLst/>
              <a:ahLst/>
              <a:cxnLst/>
              <a:rect r="r" b="b" t="t" l="l"/>
              <a:pathLst>
                <a:path h="640842" w="1299210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978789" y="0"/>
                  </a:lnTo>
                  <a:cubicBezTo>
                    <a:pt x="1155700" y="0"/>
                    <a:pt x="1299210" y="143510"/>
                    <a:pt x="1299210" y="320421"/>
                  </a:cubicBezTo>
                  <a:cubicBezTo>
                    <a:pt x="1299210" y="497332"/>
                    <a:pt x="1155700" y="640842"/>
                    <a:pt x="978789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7619238" y="8915400"/>
            <a:ext cx="960120" cy="466344"/>
            <a:chOff x="0" y="0"/>
            <a:chExt cx="1280160" cy="6217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0" cy="621792"/>
            </a:xfrm>
            <a:custGeom>
              <a:avLst/>
              <a:gdLst/>
              <a:ahLst/>
              <a:cxnLst/>
              <a:rect r="r" b="b" t="t" l="l"/>
              <a:pathLst>
                <a:path h="621792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2801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JWT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736806" y="8908256"/>
            <a:ext cx="1337882" cy="480632"/>
            <a:chOff x="0" y="0"/>
            <a:chExt cx="1783842" cy="64084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83842" cy="640842"/>
            </a:xfrm>
            <a:custGeom>
              <a:avLst/>
              <a:gdLst/>
              <a:ahLst/>
              <a:cxnLst/>
              <a:rect r="r" b="b" t="t" l="l"/>
              <a:pathLst>
                <a:path h="640842" w="1783842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1463421" y="0"/>
                  </a:lnTo>
                  <a:cubicBezTo>
                    <a:pt x="1640332" y="0"/>
                    <a:pt x="1783842" y="143510"/>
                    <a:pt x="1783842" y="320421"/>
                  </a:cubicBezTo>
                  <a:cubicBezTo>
                    <a:pt x="1783842" y="497332"/>
                    <a:pt x="1640332" y="640842"/>
                    <a:pt x="1463421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8743950" y="8915400"/>
            <a:ext cx="1323594" cy="466344"/>
            <a:chOff x="0" y="0"/>
            <a:chExt cx="1764792" cy="62179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64792" cy="621792"/>
            </a:xfrm>
            <a:custGeom>
              <a:avLst/>
              <a:gdLst/>
              <a:ahLst/>
              <a:cxnLst/>
              <a:rect r="r" b="b" t="t" l="l"/>
              <a:pathLst>
                <a:path h="621792" w="1764792">
                  <a:moveTo>
                    <a:pt x="0" y="0"/>
                  </a:moveTo>
                  <a:lnTo>
                    <a:pt x="1764792" y="0"/>
                  </a:lnTo>
                  <a:lnTo>
                    <a:pt x="17647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03" r="0" b="-530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76479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Serilog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224992" y="8908256"/>
            <a:ext cx="1207580" cy="480632"/>
            <a:chOff x="0" y="0"/>
            <a:chExt cx="1610106" cy="6408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10106" cy="640842"/>
            </a:xfrm>
            <a:custGeom>
              <a:avLst/>
              <a:gdLst/>
              <a:ahLst/>
              <a:cxnLst/>
              <a:rect r="r" b="b" t="t" l="l"/>
              <a:pathLst>
                <a:path h="640842" w="1610106">
                  <a:moveTo>
                    <a:pt x="0" y="320421"/>
                  </a:moveTo>
                  <a:cubicBezTo>
                    <a:pt x="0" y="143510"/>
                    <a:pt x="143510" y="0"/>
                    <a:pt x="320421" y="0"/>
                  </a:cubicBezTo>
                  <a:lnTo>
                    <a:pt x="1289685" y="0"/>
                  </a:lnTo>
                  <a:cubicBezTo>
                    <a:pt x="1466596" y="0"/>
                    <a:pt x="1610106" y="143510"/>
                    <a:pt x="1610106" y="320421"/>
                  </a:cubicBezTo>
                  <a:cubicBezTo>
                    <a:pt x="1610106" y="497332"/>
                    <a:pt x="1466596" y="640842"/>
                    <a:pt x="1289685" y="640842"/>
                  </a:cubicBezTo>
                  <a:lnTo>
                    <a:pt x="320421" y="640842"/>
                  </a:lnTo>
                  <a:cubicBezTo>
                    <a:pt x="143510" y="640842"/>
                    <a:pt x="0" y="497332"/>
                    <a:pt x="0" y="320421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0232136" y="8915400"/>
            <a:ext cx="1193292" cy="466344"/>
            <a:chOff x="0" y="0"/>
            <a:chExt cx="1591056" cy="6217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91056" cy="621792"/>
            </a:xfrm>
            <a:custGeom>
              <a:avLst/>
              <a:gdLst/>
              <a:ahLst/>
              <a:cxnLst/>
              <a:rect r="r" b="b" t="t" l="l"/>
              <a:pathLst>
                <a:path h="621792" w="1591056">
                  <a:moveTo>
                    <a:pt x="0" y="0"/>
                  </a:moveTo>
                  <a:lnTo>
                    <a:pt x="1591056" y="0"/>
                  </a:lnTo>
                  <a:lnTo>
                    <a:pt x="159105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" t="0" r="-141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591056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LiteDB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05 / 20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-2867267">
            <a:off x="16063053" y="-930801"/>
            <a:ext cx="2353585" cy="2285879"/>
          </a:xfrm>
          <a:custGeom>
            <a:avLst/>
            <a:gdLst/>
            <a:ahLst/>
            <a:cxnLst/>
            <a:rect r="r" b="b" t="t" l="l"/>
            <a:pathLst>
              <a:path h="2285879" w="2353585">
                <a:moveTo>
                  <a:pt x="0" y="0"/>
                </a:moveTo>
                <a:lnTo>
                  <a:pt x="2353584" y="0"/>
                </a:lnTo>
                <a:lnTo>
                  <a:pt x="2353584" y="2285879"/>
                </a:lnTo>
                <a:lnTo>
                  <a:pt x="0" y="2285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839784" cy="508064"/>
            <a:chOff x="0" y="0"/>
            <a:chExt cx="3786378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6378" cy="677418"/>
            </a:xfrm>
            <a:custGeom>
              <a:avLst/>
              <a:gdLst/>
              <a:ahLst/>
              <a:cxnLst/>
              <a:rect r="r" b="b" t="t" l="l"/>
              <a:pathLst>
                <a:path h="677418" w="37863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447669" y="0"/>
                  </a:lnTo>
                  <a:cubicBezTo>
                    <a:pt x="3634740" y="0"/>
                    <a:pt x="3786378" y="151638"/>
                    <a:pt x="3786378" y="338709"/>
                  </a:cubicBezTo>
                  <a:cubicBezTo>
                    <a:pt x="3786378" y="525780"/>
                    <a:pt x="3634740" y="677418"/>
                    <a:pt x="3447669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825496" cy="493776"/>
            <a:chOff x="0" y="0"/>
            <a:chExt cx="3767328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7328" cy="658368"/>
            </a:xfrm>
            <a:custGeom>
              <a:avLst/>
              <a:gdLst/>
              <a:ahLst/>
              <a:cxnLst/>
              <a:rect r="r" b="b" t="t" l="l"/>
              <a:pathLst>
                <a:path h="658368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97" r="0" b="-614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76732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17239" y="607695"/>
            <a:ext cx="3448050" cy="512826"/>
            <a:chOff x="0" y="0"/>
            <a:chExt cx="459740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97400" cy="683768"/>
            </a:xfrm>
            <a:custGeom>
              <a:avLst/>
              <a:gdLst/>
              <a:ahLst/>
              <a:cxnLst/>
              <a:rect r="r" b="b" t="t" l="l"/>
              <a:pathLst>
                <a:path h="683768" w="459740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255516" y="0"/>
                  </a:lnTo>
                  <a:cubicBezTo>
                    <a:pt x="4444365" y="0"/>
                    <a:pt x="4597400" y="153035"/>
                    <a:pt x="4597400" y="341884"/>
                  </a:cubicBezTo>
                  <a:cubicBezTo>
                    <a:pt x="4597400" y="530733"/>
                    <a:pt x="4444365" y="683768"/>
                    <a:pt x="425551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26764" y="617220"/>
            <a:ext cx="3429000" cy="493776"/>
            <a:chOff x="0" y="0"/>
            <a:chExt cx="457200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5720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Scope &amp; Stakeholders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Requirements Management &amp; System Scope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7236" y="2598896"/>
            <a:ext cx="16788956" cy="1591627"/>
            <a:chOff x="0" y="0"/>
            <a:chExt cx="22385274" cy="21221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85275" cy="2122170"/>
            </a:xfrm>
            <a:custGeom>
              <a:avLst/>
              <a:gdLst/>
              <a:ahLst/>
              <a:cxnLst/>
              <a:rect r="r" b="b" t="t" l="l"/>
              <a:pathLst>
                <a:path h="2122170" w="22385275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22163787" y="0"/>
                  </a:lnTo>
                  <a:cubicBezTo>
                    <a:pt x="22286088" y="0"/>
                    <a:pt x="22385275" y="99187"/>
                    <a:pt x="22385275" y="221488"/>
                  </a:cubicBezTo>
                  <a:lnTo>
                    <a:pt x="22385275" y="1900682"/>
                  </a:lnTo>
                  <a:cubicBezTo>
                    <a:pt x="22385275" y="2022983"/>
                    <a:pt x="22286088" y="2122170"/>
                    <a:pt x="22163787" y="2122170"/>
                  </a:cubicBezTo>
                  <a:lnTo>
                    <a:pt x="221488" y="2122170"/>
                  </a:lnTo>
                  <a:cubicBezTo>
                    <a:pt x="99187" y="2122170"/>
                    <a:pt x="0" y="2022983"/>
                    <a:pt x="0" y="190068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56132" y="3017520"/>
            <a:ext cx="16171164" cy="466344"/>
            <a:chOff x="0" y="0"/>
            <a:chExt cx="2156155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672" r="0" b="-6256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STAKEHOLDERS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4380" y="4594860"/>
            <a:ext cx="10972800" cy="438912"/>
            <a:chOff x="0" y="0"/>
            <a:chExt cx="14630400" cy="5852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463040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5 CORE AREAS OF SYSTEM SCOPE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0" y="5620165"/>
            <a:ext cx="19866155" cy="418270"/>
            <a:chOff x="0" y="0"/>
            <a:chExt cx="4578209" cy="96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8209" cy="96391"/>
            </a:xfrm>
            <a:custGeom>
              <a:avLst/>
              <a:gdLst/>
              <a:ahLst/>
              <a:cxnLst/>
              <a:rect r="r" b="b" t="t" l="l"/>
              <a:pathLst>
                <a:path h="96391" w="4578209">
                  <a:moveTo>
                    <a:pt x="4578209" y="0"/>
                  </a:moveTo>
                  <a:lnTo>
                    <a:pt x="4578209" y="72303"/>
                  </a:lnTo>
                  <a:cubicBezTo>
                    <a:pt x="4196689" y="72303"/>
                    <a:pt x="4196689" y="96391"/>
                    <a:pt x="3815176" y="96391"/>
                  </a:cubicBezTo>
                  <a:cubicBezTo>
                    <a:pt x="3433534" y="96391"/>
                    <a:pt x="3433534" y="72303"/>
                    <a:pt x="3052022" y="72303"/>
                  </a:cubicBezTo>
                  <a:cubicBezTo>
                    <a:pt x="2670502" y="72303"/>
                    <a:pt x="2670502" y="96391"/>
                    <a:pt x="2288982" y="96391"/>
                  </a:cubicBezTo>
                  <a:cubicBezTo>
                    <a:pt x="1907470" y="96391"/>
                    <a:pt x="1907470" y="72303"/>
                    <a:pt x="1525950" y="72303"/>
                  </a:cubicBezTo>
                  <a:cubicBezTo>
                    <a:pt x="1144429" y="72303"/>
                    <a:pt x="1144429" y="96391"/>
                    <a:pt x="763034" y="96391"/>
                  </a:cubicBezTo>
                  <a:cubicBezTo>
                    <a:pt x="381518" y="96391"/>
                    <a:pt x="381518" y="72303"/>
                    <a:pt x="0" y="72303"/>
                  </a:cubicBezTo>
                  <a:lnTo>
                    <a:pt x="0" y="0"/>
                  </a:lnTo>
                  <a:cubicBezTo>
                    <a:pt x="381518" y="0"/>
                    <a:pt x="381518" y="24088"/>
                    <a:pt x="763034" y="24088"/>
                  </a:cubicBezTo>
                  <a:cubicBezTo>
                    <a:pt x="1144429" y="24088"/>
                    <a:pt x="1144429" y="0"/>
                    <a:pt x="1525950" y="0"/>
                  </a:cubicBezTo>
                  <a:cubicBezTo>
                    <a:pt x="1907470" y="0"/>
                    <a:pt x="1907470" y="24088"/>
                    <a:pt x="2288982" y="24088"/>
                  </a:cubicBezTo>
                  <a:cubicBezTo>
                    <a:pt x="2670502" y="24088"/>
                    <a:pt x="2670502" y="0"/>
                    <a:pt x="3052022" y="0"/>
                  </a:cubicBezTo>
                  <a:cubicBezTo>
                    <a:pt x="3433534" y="0"/>
                    <a:pt x="3433534" y="24088"/>
                    <a:pt x="3815176" y="24088"/>
                  </a:cubicBezTo>
                  <a:cubicBezTo>
                    <a:pt x="4196689" y="24088"/>
                    <a:pt x="4196689" y="0"/>
                    <a:pt x="4578209" y="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5704"/>
              <a:ext cx="4578209" cy="44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5417820"/>
            <a:ext cx="1097280" cy="826808"/>
            <a:chOff x="0" y="0"/>
            <a:chExt cx="1463040" cy="11024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102411"/>
            </a:xfrm>
            <a:custGeom>
              <a:avLst/>
              <a:gdLst/>
              <a:ahLst/>
              <a:cxnLst/>
              <a:rect r="r" b="b" t="t" l="l"/>
              <a:pathLst>
                <a:path h="110241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02411"/>
                  </a:lnTo>
                  <a:lnTo>
                    <a:pt x="0" y="11024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463040" cy="1102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347972" y="5417820"/>
            <a:ext cx="1097280" cy="826808"/>
            <a:chOff x="0" y="0"/>
            <a:chExt cx="1463040" cy="11024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102411"/>
            </a:xfrm>
            <a:custGeom>
              <a:avLst/>
              <a:gdLst/>
              <a:ahLst/>
              <a:cxnLst/>
              <a:rect r="r" b="b" t="t" l="l"/>
              <a:pathLst>
                <a:path h="110241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02411"/>
                  </a:lnTo>
                  <a:lnTo>
                    <a:pt x="0" y="11024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463040" cy="1102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735824" y="5417820"/>
            <a:ext cx="1097280" cy="826808"/>
            <a:chOff x="0" y="0"/>
            <a:chExt cx="1463040" cy="11024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102411"/>
            </a:xfrm>
            <a:custGeom>
              <a:avLst/>
              <a:gdLst/>
              <a:ahLst/>
              <a:cxnLst/>
              <a:rect r="r" b="b" t="t" l="l"/>
              <a:pathLst>
                <a:path h="110241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02411"/>
                  </a:lnTo>
                  <a:lnTo>
                    <a:pt x="0" y="11024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463040" cy="1102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23676" y="5417820"/>
            <a:ext cx="1097280" cy="826808"/>
            <a:chOff x="0" y="0"/>
            <a:chExt cx="1463040" cy="11024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3040" cy="1102411"/>
            </a:xfrm>
            <a:custGeom>
              <a:avLst/>
              <a:gdLst/>
              <a:ahLst/>
              <a:cxnLst/>
              <a:rect r="r" b="b" t="t" l="l"/>
              <a:pathLst>
                <a:path h="110241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02411"/>
                  </a:lnTo>
                  <a:lnTo>
                    <a:pt x="0" y="11024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463040" cy="1102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511528" y="5417820"/>
            <a:ext cx="1097280" cy="826808"/>
            <a:chOff x="0" y="0"/>
            <a:chExt cx="1463040" cy="110241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" cy="1102411"/>
            </a:xfrm>
            <a:custGeom>
              <a:avLst/>
              <a:gdLst/>
              <a:ahLst/>
              <a:cxnLst/>
              <a:rect r="r" b="b" t="t" l="l"/>
              <a:pathLst>
                <a:path h="110241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02411"/>
                  </a:lnTo>
                  <a:lnTo>
                    <a:pt x="0" y="11024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463040" cy="1102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 spc="-59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5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06 / 20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47572" y="3555873"/>
            <a:ext cx="10338554" cy="3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End Users  •  Development Team  •  Academic Supervisors (THWS)  •  System Administrators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51560" y="6316980"/>
            <a:ext cx="2587752" cy="113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22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User Management Registration, Auth, Profiles, Search)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439412" y="6316980"/>
            <a:ext cx="2587752" cy="151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22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Communication &amp; Chat Management Direct/Group, Folders)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827264" y="6316980"/>
            <a:ext cx="2587752" cy="189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22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Realtime Functionality WebSockets, Presence, Typing Indicators)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15116" y="6316980"/>
            <a:ext cx="2587752" cy="113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22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Client Applications WPF Desktop &amp; Web Clients)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602968" y="6316980"/>
            <a:ext cx="2587752" cy="1511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224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Infrastructure &amp; Security Docker, JWT, Rate Limiting, BCrypt)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839784" cy="508064"/>
            <a:chOff x="0" y="0"/>
            <a:chExt cx="3786378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6378" cy="677418"/>
            </a:xfrm>
            <a:custGeom>
              <a:avLst/>
              <a:gdLst/>
              <a:ahLst/>
              <a:cxnLst/>
              <a:rect r="r" b="b" t="t" l="l"/>
              <a:pathLst>
                <a:path h="677418" w="37863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447669" y="0"/>
                  </a:lnTo>
                  <a:cubicBezTo>
                    <a:pt x="3634740" y="0"/>
                    <a:pt x="3786378" y="151638"/>
                    <a:pt x="3786378" y="338709"/>
                  </a:cubicBezTo>
                  <a:cubicBezTo>
                    <a:pt x="3786378" y="525780"/>
                    <a:pt x="3634740" y="677418"/>
                    <a:pt x="3447669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825496" cy="493776"/>
            <a:chOff x="0" y="0"/>
            <a:chExt cx="3767328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7328" cy="658368"/>
            </a:xfrm>
            <a:custGeom>
              <a:avLst/>
              <a:gdLst/>
              <a:ahLst/>
              <a:cxnLst/>
              <a:rect r="r" b="b" t="t" l="l"/>
              <a:pathLst>
                <a:path h="658368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97" r="0" b="-614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76732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17239" y="607695"/>
            <a:ext cx="6191250" cy="512826"/>
            <a:chOff x="0" y="0"/>
            <a:chExt cx="825500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55000" cy="683768"/>
            </a:xfrm>
            <a:custGeom>
              <a:avLst/>
              <a:gdLst/>
              <a:ahLst/>
              <a:cxnLst/>
              <a:rect r="r" b="b" t="t" l="l"/>
              <a:pathLst>
                <a:path h="683768" w="825500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7913116" y="0"/>
                  </a:lnTo>
                  <a:cubicBezTo>
                    <a:pt x="8101965" y="0"/>
                    <a:pt x="8255000" y="153035"/>
                    <a:pt x="8255000" y="341884"/>
                  </a:cubicBezTo>
                  <a:cubicBezTo>
                    <a:pt x="8255000" y="530733"/>
                    <a:pt x="8101965" y="683768"/>
                    <a:pt x="791311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26764" y="617220"/>
            <a:ext cx="6172200" cy="493776"/>
            <a:chOff x="0" y="0"/>
            <a:chExt cx="822960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2296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Functional Requirements (FR-01 to FR-15)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Functional Requirements: Core Messaging &amp; User Flow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2990" y="2970480"/>
            <a:ext cx="2331720" cy="642747"/>
            <a:chOff x="0" y="0"/>
            <a:chExt cx="3108960" cy="8569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856996"/>
            </a:xfrm>
            <a:custGeom>
              <a:avLst/>
              <a:gdLst/>
              <a:ahLst/>
              <a:cxnLst/>
              <a:rect r="r" b="b" t="t" l="l"/>
              <a:pathLst>
                <a:path h="856996" w="3108960">
                  <a:moveTo>
                    <a:pt x="0" y="428498"/>
                  </a:moveTo>
                  <a:cubicBezTo>
                    <a:pt x="0" y="191832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191832"/>
                    <a:pt x="3108960" y="428498"/>
                  </a:cubicBezTo>
                  <a:cubicBezTo>
                    <a:pt x="3108960" y="665164"/>
                    <a:pt x="2863342" y="856996"/>
                    <a:pt x="2560320" y="856996"/>
                  </a:cubicBezTo>
                  <a:lnTo>
                    <a:pt x="548640" y="856996"/>
                  </a:lnTo>
                  <a:cubicBezTo>
                    <a:pt x="245618" y="856996"/>
                    <a:pt x="0" y="665164"/>
                    <a:pt x="0" y="42849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62990" y="2970480"/>
            <a:ext cx="2331720" cy="642747"/>
            <a:chOff x="0" y="0"/>
            <a:chExt cx="3108960" cy="85699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08960" cy="856996"/>
            </a:xfrm>
            <a:custGeom>
              <a:avLst/>
              <a:gdLst/>
              <a:ahLst/>
              <a:cxnLst/>
              <a:rect r="r" b="b" t="t" l="l"/>
              <a:pathLst>
                <a:path h="856996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856996"/>
                  </a:lnTo>
                  <a:lnTo>
                    <a:pt x="0" y="856996"/>
                  </a:lnTo>
                  <a:close/>
                </a:path>
              </a:pathLst>
            </a:custGeom>
            <a:solidFill>
              <a:srgbClr val="23232F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108960" cy="8569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FR-01 – FR-05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06190" y="2751024"/>
            <a:ext cx="4114800" cy="1234440"/>
            <a:chOff x="0" y="0"/>
            <a:chExt cx="548640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4864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User Auth &amp; Profiles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126730" y="2751024"/>
            <a:ext cx="9189720" cy="1234440"/>
            <a:chOff x="0" y="0"/>
            <a:chExt cx="1225296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52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2252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Registration, Login, JWT session management, profile management, global user search.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2990" y="4170535"/>
            <a:ext cx="2331720" cy="642747"/>
            <a:chOff x="0" y="0"/>
            <a:chExt cx="3108960" cy="8569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856996"/>
            </a:xfrm>
            <a:custGeom>
              <a:avLst/>
              <a:gdLst/>
              <a:ahLst/>
              <a:cxnLst/>
              <a:rect r="r" b="b" t="t" l="l"/>
              <a:pathLst>
                <a:path h="856996" w="3108960">
                  <a:moveTo>
                    <a:pt x="0" y="428498"/>
                  </a:moveTo>
                  <a:cubicBezTo>
                    <a:pt x="0" y="191832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191832"/>
                    <a:pt x="3108960" y="428498"/>
                  </a:cubicBezTo>
                  <a:cubicBezTo>
                    <a:pt x="3108960" y="665164"/>
                    <a:pt x="2863342" y="856996"/>
                    <a:pt x="2560320" y="856996"/>
                  </a:cubicBezTo>
                  <a:lnTo>
                    <a:pt x="548640" y="856996"/>
                  </a:lnTo>
                  <a:cubicBezTo>
                    <a:pt x="245618" y="856996"/>
                    <a:pt x="0" y="665164"/>
                    <a:pt x="0" y="42849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4410" y="4231876"/>
            <a:ext cx="2331720" cy="545222"/>
            <a:chOff x="0" y="0"/>
            <a:chExt cx="3108960" cy="7269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726963"/>
            </a:xfrm>
            <a:custGeom>
              <a:avLst/>
              <a:gdLst/>
              <a:ahLst/>
              <a:cxnLst/>
              <a:rect r="r" b="b" t="t" l="l"/>
              <a:pathLst>
                <a:path h="726963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26963"/>
                  </a:lnTo>
                  <a:lnTo>
                    <a:pt x="0" y="7269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" r="0" b="-588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108960" cy="726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FR-06 – FR-08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737610" y="4012420"/>
            <a:ext cx="4114800" cy="1234440"/>
            <a:chOff x="0" y="0"/>
            <a:chExt cx="548640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4864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Chat Management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058150" y="4012420"/>
            <a:ext cx="9189720" cy="1234440"/>
            <a:chOff x="0" y="0"/>
            <a:chExt cx="1225296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252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2252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Direct and group chat creation, participant control, user chat folders.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1570" y="5458616"/>
            <a:ext cx="2331720" cy="642747"/>
            <a:chOff x="0" y="0"/>
            <a:chExt cx="3108960" cy="8569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08960" cy="856996"/>
            </a:xfrm>
            <a:custGeom>
              <a:avLst/>
              <a:gdLst/>
              <a:ahLst/>
              <a:cxnLst/>
              <a:rect r="r" b="b" t="t" l="l"/>
              <a:pathLst>
                <a:path h="856996" w="3108960">
                  <a:moveTo>
                    <a:pt x="0" y="428498"/>
                  </a:moveTo>
                  <a:cubicBezTo>
                    <a:pt x="0" y="191832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191832"/>
                    <a:pt x="3108960" y="428498"/>
                  </a:cubicBezTo>
                  <a:cubicBezTo>
                    <a:pt x="3108960" y="665164"/>
                    <a:pt x="2863342" y="856996"/>
                    <a:pt x="2560320" y="856996"/>
                  </a:cubicBezTo>
                  <a:lnTo>
                    <a:pt x="548640" y="856996"/>
                  </a:lnTo>
                  <a:cubicBezTo>
                    <a:pt x="245618" y="856996"/>
                    <a:pt x="0" y="665164"/>
                    <a:pt x="0" y="42849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5850" y="5523466"/>
            <a:ext cx="2331720" cy="577897"/>
            <a:chOff x="0" y="0"/>
            <a:chExt cx="3108960" cy="7705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08960" cy="770530"/>
            </a:xfrm>
            <a:custGeom>
              <a:avLst/>
              <a:gdLst/>
              <a:ahLst/>
              <a:cxnLst/>
              <a:rect r="r" b="b" t="t" l="l"/>
              <a:pathLst>
                <a:path h="77053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70530"/>
                  </a:lnTo>
                  <a:lnTo>
                    <a:pt x="0" y="7705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5" r="0" b="-4982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108960" cy="770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FR-09 – FR-13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829050" y="5304010"/>
            <a:ext cx="4114800" cy="1234440"/>
            <a:chOff x="0" y="0"/>
            <a:chExt cx="5486400" cy="1645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4864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Messaging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058150" y="5304010"/>
            <a:ext cx="9189720" cy="1234440"/>
            <a:chOff x="0" y="0"/>
            <a:chExt cx="12252960" cy="1645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252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2252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Send, edit, delete messages; real-time delivery over WebSockets; read/delivered statuses.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54430" y="6768685"/>
            <a:ext cx="2331720" cy="642747"/>
            <a:chOff x="0" y="0"/>
            <a:chExt cx="3108960" cy="8569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08960" cy="856996"/>
            </a:xfrm>
            <a:custGeom>
              <a:avLst/>
              <a:gdLst/>
              <a:ahLst/>
              <a:cxnLst/>
              <a:rect r="r" b="b" t="t" l="l"/>
              <a:pathLst>
                <a:path h="856996" w="3108960">
                  <a:moveTo>
                    <a:pt x="0" y="428498"/>
                  </a:moveTo>
                  <a:cubicBezTo>
                    <a:pt x="0" y="191832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191832"/>
                    <a:pt x="3108960" y="428498"/>
                  </a:cubicBezTo>
                  <a:cubicBezTo>
                    <a:pt x="3108960" y="665164"/>
                    <a:pt x="2863342" y="856996"/>
                    <a:pt x="2560320" y="856996"/>
                  </a:cubicBezTo>
                  <a:lnTo>
                    <a:pt x="548640" y="856996"/>
                  </a:lnTo>
                  <a:cubicBezTo>
                    <a:pt x="245618" y="856996"/>
                    <a:pt x="0" y="665164"/>
                    <a:pt x="0" y="428498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31570" y="6792941"/>
            <a:ext cx="2331720" cy="594235"/>
            <a:chOff x="0" y="0"/>
            <a:chExt cx="3108960" cy="79231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08960" cy="792313"/>
            </a:xfrm>
            <a:custGeom>
              <a:avLst/>
              <a:gdLst/>
              <a:ahLst/>
              <a:cxnLst/>
              <a:rect r="r" b="b" t="t" l="l"/>
              <a:pathLst>
                <a:path h="792313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92313"/>
                  </a:lnTo>
                  <a:lnTo>
                    <a:pt x="0" y="7923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12" r="0" b="-4570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108960" cy="7923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FR-09–FR-13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722370" y="7697182"/>
            <a:ext cx="4114800" cy="1234440"/>
            <a:chOff x="0" y="0"/>
            <a:chExt cx="5486400" cy="16459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4864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Attachments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042910" y="7697182"/>
            <a:ext cx="9189720" cy="1234440"/>
            <a:chOff x="0" y="0"/>
            <a:chExt cx="12252960" cy="1645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252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2252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</a:t>
              </a: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ocument sharing with format-specific in-app previews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07 / 20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>
            <a:off x="1017270" y="3824396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040130" y="5156182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971550" y="6472838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1131570" y="8001197"/>
            <a:ext cx="2331720" cy="626409"/>
            <a:chOff x="0" y="0"/>
            <a:chExt cx="3108960" cy="8352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108960" cy="835213"/>
            </a:xfrm>
            <a:custGeom>
              <a:avLst/>
              <a:gdLst/>
              <a:ahLst/>
              <a:cxnLst/>
              <a:rect r="r" b="b" t="t" l="l"/>
              <a:pathLst>
                <a:path h="835213" w="3108960">
                  <a:moveTo>
                    <a:pt x="0" y="417606"/>
                  </a:moveTo>
                  <a:cubicBezTo>
                    <a:pt x="0" y="186956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186956"/>
                    <a:pt x="3108960" y="417606"/>
                  </a:cubicBezTo>
                  <a:cubicBezTo>
                    <a:pt x="3108960" y="648257"/>
                    <a:pt x="2863342" y="835213"/>
                    <a:pt x="2560320" y="835213"/>
                  </a:cubicBezTo>
                  <a:lnTo>
                    <a:pt x="548640" y="835213"/>
                  </a:lnTo>
                  <a:cubicBezTo>
                    <a:pt x="245618" y="835213"/>
                    <a:pt x="0" y="648256"/>
                    <a:pt x="0" y="417606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31570" y="8036462"/>
            <a:ext cx="2331720" cy="555879"/>
            <a:chOff x="0" y="0"/>
            <a:chExt cx="3108960" cy="7411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08960" cy="741172"/>
            </a:xfrm>
            <a:custGeom>
              <a:avLst/>
              <a:gdLst/>
              <a:ahLst/>
              <a:cxnLst/>
              <a:rect r="r" b="b" t="t" l="l"/>
              <a:pathLst>
                <a:path h="741172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41172"/>
                  </a:lnTo>
                  <a:lnTo>
                    <a:pt x="0" y="741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09" r="0" b="-5575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108960" cy="741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FR-14–FR-15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3806190" y="6472838"/>
            <a:ext cx="4114800" cy="1234440"/>
            <a:chOff x="0" y="0"/>
            <a:chExt cx="5486400" cy="16459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86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48640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</a:t>
              </a: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essaging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126730" y="6472838"/>
            <a:ext cx="9189720" cy="1234440"/>
            <a:chOff x="0" y="0"/>
            <a:chExt cx="12252960" cy="16459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2529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122529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Mess</a:t>
              </a: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age replies (threading/quotes), message forwarding with original author attribution, and "Saved Messages" personal cloud chat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>
            <a:off x="994410" y="7754903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839784" cy="508064"/>
            <a:chOff x="0" y="0"/>
            <a:chExt cx="3786378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6378" cy="677418"/>
            </a:xfrm>
            <a:custGeom>
              <a:avLst/>
              <a:gdLst/>
              <a:ahLst/>
              <a:cxnLst/>
              <a:rect r="r" b="b" t="t" l="l"/>
              <a:pathLst>
                <a:path h="677418" w="37863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447669" y="0"/>
                  </a:lnTo>
                  <a:cubicBezTo>
                    <a:pt x="3634740" y="0"/>
                    <a:pt x="3786378" y="151638"/>
                    <a:pt x="3786378" y="338709"/>
                  </a:cubicBezTo>
                  <a:cubicBezTo>
                    <a:pt x="3786378" y="525780"/>
                    <a:pt x="3634740" y="677418"/>
                    <a:pt x="3447669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825496" cy="493776"/>
            <a:chOff x="0" y="0"/>
            <a:chExt cx="3767328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7328" cy="658368"/>
            </a:xfrm>
            <a:custGeom>
              <a:avLst/>
              <a:gdLst/>
              <a:ahLst/>
              <a:cxnLst/>
              <a:rect r="r" b="b" t="t" l="l"/>
              <a:pathLst>
                <a:path h="658368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97" r="0" b="-614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76732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REQUIREMENTS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17239" y="607695"/>
            <a:ext cx="5368290" cy="512826"/>
            <a:chOff x="0" y="0"/>
            <a:chExt cx="715772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7720" cy="683768"/>
            </a:xfrm>
            <a:custGeom>
              <a:avLst/>
              <a:gdLst/>
              <a:ahLst/>
              <a:cxnLst/>
              <a:rect r="r" b="b" t="t" l="l"/>
              <a:pathLst>
                <a:path h="683768" w="71577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6815836" y="0"/>
                  </a:lnTo>
                  <a:cubicBezTo>
                    <a:pt x="7004685" y="0"/>
                    <a:pt x="7157720" y="153035"/>
                    <a:pt x="7157720" y="341884"/>
                  </a:cubicBezTo>
                  <a:cubicBezTo>
                    <a:pt x="7157720" y="530733"/>
                    <a:pt x="7004685" y="683768"/>
                    <a:pt x="68158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26764" y="617220"/>
            <a:ext cx="5349240" cy="493776"/>
            <a:chOff x="0" y="0"/>
            <a:chExt cx="713232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2320" cy="658368"/>
            </a:xfrm>
            <a:custGeom>
              <a:avLst/>
              <a:gdLst/>
              <a:ahLst/>
              <a:cxnLst/>
              <a:rect r="r" b="b" t="t" l="l"/>
              <a:pathLst>
                <a:path h="658368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87" r="0" b="-16108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71323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Extended Features (FR-16 to FR-24)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Real-Time &amp; Extended Functional Capabilities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4311" y="2761679"/>
            <a:ext cx="2331720" cy="822960"/>
            <a:chOff x="0" y="0"/>
            <a:chExt cx="310896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245618"/>
                    <a:pt x="3108960" y="548640"/>
                  </a:cubicBezTo>
                  <a:cubicBezTo>
                    <a:pt x="3108960" y="851662"/>
                    <a:pt x="2863342" y="1097280"/>
                    <a:pt x="25603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64311" y="2761679"/>
            <a:ext cx="2331720" cy="822960"/>
            <a:chOff x="0" y="0"/>
            <a:chExt cx="31089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1089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FR-16 – FR-19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707511" y="2418779"/>
            <a:ext cx="4114800" cy="1508760"/>
            <a:chOff x="0" y="0"/>
            <a:chExt cx="5486400" cy="2011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4864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Realtime Communication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28051" y="2418779"/>
            <a:ext cx="9189720" cy="1508760"/>
            <a:chOff x="0" y="0"/>
            <a:chExt cx="1225296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52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81" r="0" b="-6868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225296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Persistent WebSockets, live typing indicators, presence (Online/Offline), chat state events.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2881" y="4270439"/>
            <a:ext cx="2331720" cy="822960"/>
            <a:chOff x="0" y="0"/>
            <a:chExt cx="310896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245618"/>
                    <a:pt x="3108960" y="548640"/>
                  </a:cubicBezTo>
                  <a:cubicBezTo>
                    <a:pt x="3108960" y="851662"/>
                    <a:pt x="2863342" y="1097280"/>
                    <a:pt x="25603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52881" y="4270439"/>
            <a:ext cx="2331720" cy="822960"/>
            <a:chOff x="0" y="0"/>
            <a:chExt cx="310896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1089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FR-20 – FR-21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696081" y="3927539"/>
            <a:ext cx="4114800" cy="1508760"/>
            <a:chOff x="0" y="0"/>
            <a:chExt cx="5486400" cy="2011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4864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Voice Calls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016621" y="3927539"/>
            <a:ext cx="9189720" cy="1508760"/>
            <a:chOff x="0" y="0"/>
            <a:chExt cx="12252960" cy="2011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252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81" r="0" b="-686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225296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Start, accept, reject, and end voice call signaling.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4311" y="5858447"/>
            <a:ext cx="2331720" cy="822960"/>
            <a:chOff x="0" y="0"/>
            <a:chExt cx="310896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245618"/>
                    <a:pt x="3108960" y="548640"/>
                  </a:cubicBezTo>
                  <a:cubicBezTo>
                    <a:pt x="3108960" y="851662"/>
                    <a:pt x="2863342" y="1097280"/>
                    <a:pt x="25603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4311" y="5858447"/>
            <a:ext cx="2331720" cy="822960"/>
            <a:chOff x="0" y="0"/>
            <a:chExt cx="310896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1089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FR-22 – FR-24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707511" y="5515547"/>
            <a:ext cx="4114800" cy="1508760"/>
            <a:chOff x="0" y="0"/>
            <a:chExt cx="5486400" cy="2011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4864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Supporting Services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028051" y="5515547"/>
            <a:ext cx="9189720" cy="1508760"/>
            <a:chOff x="0" y="0"/>
            <a:chExt cx="12252960" cy="2011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252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81" r="0" b="-6868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225296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User preferences storage, AI image generation, in-chat text translation.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08 / 20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964311" y="3903917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941451" y="5477447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1005840" y="7329106"/>
            <a:ext cx="2331720" cy="822960"/>
            <a:chOff x="0" y="0"/>
            <a:chExt cx="310896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245618"/>
                    <a:pt x="3108960" y="548640"/>
                  </a:cubicBezTo>
                  <a:cubicBezTo>
                    <a:pt x="3108960" y="851662"/>
                    <a:pt x="2863342" y="1097280"/>
                    <a:pt x="25603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5840" y="7329106"/>
            <a:ext cx="2331720" cy="822960"/>
            <a:chOff x="0" y="0"/>
            <a:chExt cx="3108960" cy="1097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31089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FR-20–FR-21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749040" y="6986206"/>
            <a:ext cx="4114800" cy="1508760"/>
            <a:chOff x="0" y="0"/>
            <a:chExt cx="5486400" cy="20116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86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54864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</a:t>
              </a: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oice/Video Calls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069580" y="6986206"/>
            <a:ext cx="9189720" cy="1508760"/>
            <a:chOff x="0" y="0"/>
            <a:chExt cx="12252960" cy="2011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252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81" r="0" b="-6868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225296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P2P / T</a:t>
              </a: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URN-assisted audio call session management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>
            <a:off x="982980" y="6948106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>
            <a:off x="987171" y="8475916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049274" y="8752142"/>
            <a:ext cx="2331720" cy="822960"/>
            <a:chOff x="0" y="0"/>
            <a:chExt cx="3108960" cy="1097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2560320" y="0"/>
                  </a:lnTo>
                  <a:cubicBezTo>
                    <a:pt x="2863342" y="0"/>
                    <a:pt x="3108960" y="245618"/>
                    <a:pt x="3108960" y="548640"/>
                  </a:cubicBezTo>
                  <a:cubicBezTo>
                    <a:pt x="3108960" y="851662"/>
                    <a:pt x="2863342" y="1097280"/>
                    <a:pt x="25603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49274" y="8752142"/>
            <a:ext cx="2331720" cy="822960"/>
            <a:chOff x="0" y="0"/>
            <a:chExt cx="310896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108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7" r="0" b="-52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31089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FR-22–FR-24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792474" y="8409242"/>
            <a:ext cx="4114800" cy="1508760"/>
            <a:chOff x="0" y="0"/>
            <a:chExt cx="5486400" cy="20116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86400" cy="2011680"/>
            </a:xfrm>
            <a:custGeom>
              <a:avLst/>
              <a:gdLst/>
              <a:ahLst/>
              <a:cxnLst/>
              <a:rect r="r" b="b" t="t" l="l"/>
              <a:pathLst>
                <a:path h="20116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" r="0" b="-314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5486400" cy="2011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</a:t>
              </a: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orting Services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113014" y="8409242"/>
            <a:ext cx="9189720" cy="1508760"/>
            <a:chOff x="0" y="0"/>
            <a:chExt cx="12252960" cy="201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22529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81" r="0" b="-6868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2252960" cy="2040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7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Cu</a:t>
              </a: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stom chat themes and personal wallpaper customization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839784" cy="508064"/>
            <a:chOff x="0" y="0"/>
            <a:chExt cx="3786378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6378" cy="677418"/>
            </a:xfrm>
            <a:custGeom>
              <a:avLst/>
              <a:gdLst/>
              <a:ahLst/>
              <a:cxnLst/>
              <a:rect r="r" b="b" t="t" l="l"/>
              <a:pathLst>
                <a:path h="677418" w="37863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447669" y="0"/>
                  </a:lnTo>
                  <a:cubicBezTo>
                    <a:pt x="3634740" y="0"/>
                    <a:pt x="3786378" y="151638"/>
                    <a:pt x="3786378" y="338709"/>
                  </a:cubicBezTo>
                  <a:cubicBezTo>
                    <a:pt x="3786378" y="525780"/>
                    <a:pt x="3634740" y="677418"/>
                    <a:pt x="3447669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825496" cy="493776"/>
            <a:chOff x="0" y="0"/>
            <a:chExt cx="3767328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7328" cy="658368"/>
            </a:xfrm>
            <a:custGeom>
              <a:avLst/>
              <a:gdLst/>
              <a:ahLst/>
              <a:cxnLst/>
              <a:rect r="r" b="b" t="t" l="l"/>
              <a:pathLst>
                <a:path h="658368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97" r="0" b="-614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76732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17239" y="607695"/>
            <a:ext cx="3310890" cy="512826"/>
            <a:chOff x="0" y="0"/>
            <a:chExt cx="441452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683768"/>
            </a:xfrm>
            <a:custGeom>
              <a:avLst/>
              <a:gdLst/>
              <a:ahLst/>
              <a:cxnLst/>
              <a:rect r="r" b="b" t="t" l="l"/>
              <a:pathLst>
                <a:path h="683768" w="44145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072636" y="0"/>
                  </a:lnTo>
                  <a:cubicBezTo>
                    <a:pt x="4261485" y="0"/>
                    <a:pt x="4414520" y="153035"/>
                    <a:pt x="4414520" y="341884"/>
                  </a:cubicBezTo>
                  <a:cubicBezTo>
                    <a:pt x="4414520" y="530733"/>
                    <a:pt x="4261485" y="683768"/>
                    <a:pt x="40726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26764" y="617220"/>
            <a:ext cx="3291840" cy="493776"/>
            <a:chOff x="0" y="0"/>
            <a:chExt cx="438912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9120" cy="658368"/>
            </a:xfrm>
            <a:custGeom>
              <a:avLst/>
              <a:gdLst/>
              <a:ahLst/>
              <a:cxnLst/>
              <a:rect r="r" b="b" t="t" l="l"/>
              <a:pathLst>
                <a:path h="658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389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High-Level Overview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Client-Server Architecture Overview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0595" y="3213735"/>
            <a:ext cx="3516630" cy="1527810"/>
            <a:chOff x="0" y="0"/>
            <a:chExt cx="4688840" cy="2037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8884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68884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540631" y="0"/>
                  </a:lnTo>
                  <a:cubicBezTo>
                    <a:pt x="4622419" y="0"/>
                    <a:pt x="4688840" y="66294"/>
                    <a:pt x="4688840" y="148209"/>
                  </a:cubicBezTo>
                  <a:lnTo>
                    <a:pt x="4688840" y="1888871"/>
                  </a:lnTo>
                  <a:cubicBezTo>
                    <a:pt x="4688840" y="1970659"/>
                    <a:pt x="4622546" y="2037080"/>
                    <a:pt x="454063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7280" y="3223260"/>
            <a:ext cx="3223260" cy="1508760"/>
            <a:chOff x="0" y="0"/>
            <a:chExt cx="4297680" cy="20116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2976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Clients</a:t>
              </a:r>
            </a:p>
            <a:p>
              <a:pPr algn="ctr">
                <a:lnSpc>
                  <a:spcPts val="1795"/>
                </a:lnSpc>
              </a:pPr>
              <a:r>
                <a:rPr lang="en-US" sz="1425">
                  <a:solidFill>
                    <a:srgbClr val="A7A7B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WPF / Web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4443416" y="3963354"/>
            <a:ext cx="759139" cy="0"/>
          </a:xfrm>
          <a:prstGeom prst="line">
            <a:avLst/>
          </a:prstGeom>
          <a:ln cap="rnd" w="1905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5202555" y="3213735"/>
            <a:ext cx="3516630" cy="1527810"/>
            <a:chOff x="0" y="0"/>
            <a:chExt cx="4688840" cy="2037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8884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68884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540631" y="0"/>
                  </a:lnTo>
                  <a:cubicBezTo>
                    <a:pt x="4622419" y="0"/>
                    <a:pt x="4688840" y="66294"/>
                    <a:pt x="4688840" y="148209"/>
                  </a:cubicBezTo>
                  <a:lnTo>
                    <a:pt x="4688840" y="1888871"/>
                  </a:lnTo>
                  <a:cubicBezTo>
                    <a:pt x="4688840" y="1970659"/>
                    <a:pt x="4622546" y="2037080"/>
                    <a:pt x="454063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349240" y="3223260"/>
            <a:ext cx="3223260" cy="1508760"/>
            <a:chOff x="0" y="0"/>
            <a:chExt cx="4297680" cy="20116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2976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REST API &amp;</a:t>
              </a:r>
            </a:p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WebSockets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flipV="true">
            <a:off x="8695376" y="3909788"/>
            <a:ext cx="818956" cy="53566"/>
          </a:xfrm>
          <a:prstGeom prst="line">
            <a:avLst/>
          </a:prstGeom>
          <a:ln cap="rnd" w="1905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9454515" y="3213735"/>
            <a:ext cx="3516630" cy="1527810"/>
            <a:chOff x="0" y="0"/>
            <a:chExt cx="4688840" cy="2037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8884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68884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540631" y="0"/>
                  </a:lnTo>
                  <a:cubicBezTo>
                    <a:pt x="4622419" y="0"/>
                    <a:pt x="4688840" y="66294"/>
                    <a:pt x="4688840" y="148209"/>
                  </a:cubicBezTo>
                  <a:lnTo>
                    <a:pt x="4688840" y="1888871"/>
                  </a:lnTo>
                  <a:cubicBezTo>
                    <a:pt x="4688840" y="1970659"/>
                    <a:pt x="4622546" y="2037080"/>
                    <a:pt x="454063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601200" y="3223260"/>
            <a:ext cx="3223260" cy="1508760"/>
            <a:chOff x="0" y="0"/>
            <a:chExt cx="429768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2976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ASP.NET Core 8</a:t>
              </a:r>
            </a:p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Backend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12947336" y="3899521"/>
            <a:ext cx="759139" cy="63833"/>
          </a:xfrm>
          <a:prstGeom prst="line">
            <a:avLst/>
          </a:prstGeom>
          <a:ln cap="rnd" w="1905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13706475" y="3213735"/>
            <a:ext cx="3516630" cy="1527810"/>
            <a:chOff x="0" y="0"/>
            <a:chExt cx="4688840" cy="2037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88840" cy="2037080"/>
            </a:xfrm>
            <a:custGeom>
              <a:avLst/>
              <a:gdLst/>
              <a:ahLst/>
              <a:cxnLst/>
              <a:rect r="r" b="b" t="t" l="l"/>
              <a:pathLst>
                <a:path h="2037080" w="4688840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4540631" y="0"/>
                  </a:lnTo>
                  <a:cubicBezTo>
                    <a:pt x="4622419" y="0"/>
                    <a:pt x="4688840" y="66294"/>
                    <a:pt x="4688840" y="148209"/>
                  </a:cubicBezTo>
                  <a:lnTo>
                    <a:pt x="4688840" y="1888871"/>
                  </a:lnTo>
                  <a:cubicBezTo>
                    <a:pt x="4688840" y="1970659"/>
                    <a:pt x="4622546" y="2037080"/>
                    <a:pt x="4540631" y="2037080"/>
                  </a:cubicBezTo>
                  <a:lnTo>
                    <a:pt x="148209" y="2037080"/>
                  </a:lnTo>
                  <a:cubicBezTo>
                    <a:pt x="66294" y="2037080"/>
                    <a:pt x="0" y="1970786"/>
                    <a:pt x="0" y="18888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853160" y="3223260"/>
            <a:ext cx="3223260" cy="1508760"/>
            <a:chOff x="0" y="0"/>
            <a:chExt cx="4297680" cy="20116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97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56" t="0" r="-1005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29768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Polyglot</a:t>
              </a:r>
            </a:p>
            <a:p>
              <a:pPr algn="ctr">
                <a:lnSpc>
                  <a:spcPts val="23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Persistence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6132" y="5692140"/>
            <a:ext cx="16171164" cy="466344"/>
            <a:chOff x="0" y="0"/>
            <a:chExt cx="21561552" cy="6217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672" r="0" b="-62567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SECURITY BOUNDARY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47236" y="7056596"/>
            <a:ext cx="16740664" cy="2208848"/>
            <a:chOff x="0" y="0"/>
            <a:chExt cx="22320885" cy="29451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320884" cy="2945130"/>
            </a:xfrm>
            <a:custGeom>
              <a:avLst/>
              <a:gdLst/>
              <a:ahLst/>
              <a:cxnLst/>
              <a:rect r="r" b="b" t="t" l="l"/>
              <a:pathLst>
                <a:path h="2945130" w="22320884">
                  <a:moveTo>
                    <a:pt x="0" y="220853"/>
                  </a:moveTo>
                  <a:cubicBezTo>
                    <a:pt x="0" y="98933"/>
                    <a:pt x="202586" y="0"/>
                    <a:pt x="452243" y="0"/>
                  </a:cubicBezTo>
                  <a:lnTo>
                    <a:pt x="21868642" y="0"/>
                  </a:lnTo>
                  <a:cubicBezTo>
                    <a:pt x="22118558" y="0"/>
                    <a:pt x="22320884" y="98933"/>
                    <a:pt x="22320884" y="220853"/>
                  </a:cubicBezTo>
                  <a:lnTo>
                    <a:pt x="22320884" y="2724277"/>
                  </a:lnTo>
                  <a:cubicBezTo>
                    <a:pt x="22320884" y="2846324"/>
                    <a:pt x="22118298" y="2945130"/>
                    <a:pt x="21868642" y="2945130"/>
                  </a:cubicBezTo>
                  <a:lnTo>
                    <a:pt x="452243" y="2945130"/>
                  </a:lnTo>
                  <a:cubicBezTo>
                    <a:pt x="202586" y="2945130"/>
                    <a:pt x="0" y="2846197"/>
                    <a:pt x="0" y="27242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56132" y="7475220"/>
            <a:ext cx="7557516" cy="466344"/>
            <a:chOff x="0" y="0"/>
            <a:chExt cx="10076688" cy="6217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76688" cy="621792"/>
            </a:xfrm>
            <a:custGeom>
              <a:avLst/>
              <a:gdLst/>
              <a:ahLst/>
              <a:cxnLst/>
              <a:rect r="r" b="b" t="t" l="l"/>
              <a:pathLst>
                <a:path h="621792" w="10076688">
                  <a:moveTo>
                    <a:pt x="0" y="0"/>
                  </a:moveTo>
                  <a:lnTo>
                    <a:pt x="10076688" y="0"/>
                  </a:lnTo>
                  <a:lnTo>
                    <a:pt x="1007668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772" r="0" b="-26577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007668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SINGLE SOURCE OF TRUTH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22892" y="7475220"/>
            <a:ext cx="7804404" cy="466344"/>
            <a:chOff x="0" y="0"/>
            <a:chExt cx="10405872" cy="6217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05872" cy="621792"/>
            </a:xfrm>
            <a:custGeom>
              <a:avLst/>
              <a:gdLst/>
              <a:ahLst/>
              <a:cxnLst/>
              <a:rect r="r" b="b" t="t" l="l"/>
              <a:pathLst>
                <a:path h="621792" w="10405872">
                  <a:moveTo>
                    <a:pt x="0" y="0"/>
                  </a:moveTo>
                  <a:lnTo>
                    <a:pt x="10405872" y="0"/>
                  </a:lnTo>
                  <a:lnTo>
                    <a:pt x="10405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087" r="0" b="-27608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0405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MULTI-CLIENT SUPPORT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09 / 20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47572" y="6230493"/>
            <a:ext cx="9666565" cy="3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Clients NEVER access databases directly; all operations are mediated by the backend.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47572" y="8023098"/>
            <a:ext cx="737463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Business logic, validation, authentication, and permission rules remain centralized on the server.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14332" y="8023098"/>
            <a:ext cx="7621524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Desktop and Web clients consume the exact same backend endpoints and WebSocket contracts.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839784" cy="508064"/>
            <a:chOff x="0" y="0"/>
            <a:chExt cx="3786378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6378" cy="677418"/>
            </a:xfrm>
            <a:custGeom>
              <a:avLst/>
              <a:gdLst/>
              <a:ahLst/>
              <a:cxnLst/>
              <a:rect r="r" b="b" t="t" l="l"/>
              <a:pathLst>
                <a:path h="677418" w="37863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447669" y="0"/>
                  </a:lnTo>
                  <a:cubicBezTo>
                    <a:pt x="3634740" y="0"/>
                    <a:pt x="3786378" y="151638"/>
                    <a:pt x="3786378" y="338709"/>
                  </a:cubicBezTo>
                  <a:cubicBezTo>
                    <a:pt x="3786378" y="525780"/>
                    <a:pt x="3634740" y="677418"/>
                    <a:pt x="3447669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825496" cy="493776"/>
            <a:chOff x="0" y="0"/>
            <a:chExt cx="3767328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67328" cy="658368"/>
            </a:xfrm>
            <a:custGeom>
              <a:avLst/>
              <a:gdLst/>
              <a:ahLst/>
              <a:cxnLst/>
              <a:rect r="r" b="b" t="t" l="l"/>
              <a:pathLst>
                <a:path h="658368" w="3767328">
                  <a:moveTo>
                    <a:pt x="0" y="0"/>
                  </a:moveTo>
                  <a:lnTo>
                    <a:pt x="3767328" y="0"/>
                  </a:lnTo>
                  <a:lnTo>
                    <a:pt x="376732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497" r="0" b="-6149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767328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ARCHITECTURE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817239" y="607695"/>
            <a:ext cx="3448050" cy="512826"/>
            <a:chOff x="0" y="0"/>
            <a:chExt cx="459740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97400" cy="683768"/>
            </a:xfrm>
            <a:custGeom>
              <a:avLst/>
              <a:gdLst/>
              <a:ahLst/>
              <a:cxnLst/>
              <a:rect r="r" b="b" t="t" l="l"/>
              <a:pathLst>
                <a:path h="683768" w="459740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255516" y="0"/>
                  </a:lnTo>
                  <a:cubicBezTo>
                    <a:pt x="4444365" y="0"/>
                    <a:pt x="4597400" y="153035"/>
                    <a:pt x="4597400" y="341884"/>
                  </a:cubicBezTo>
                  <a:cubicBezTo>
                    <a:pt x="4597400" y="530733"/>
                    <a:pt x="4444365" y="683768"/>
                    <a:pt x="425551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826764" y="617220"/>
            <a:ext cx="3429000" cy="493776"/>
            <a:chOff x="0" y="0"/>
            <a:chExt cx="457200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0" cy="658368"/>
            </a:xfrm>
            <a:custGeom>
              <a:avLst/>
              <a:gdLst/>
              <a:ahLst/>
              <a:cxnLst/>
              <a:rect r="r" b="b" t="t" l="l"/>
              <a:pathLst>
                <a:path h="658368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312" r="0" b="-8531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5720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Polyglot Persistence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860653" y="-3185684"/>
            <a:ext cx="4854694" cy="4559379"/>
          </a:xfrm>
          <a:custGeom>
            <a:avLst/>
            <a:gdLst/>
            <a:ahLst/>
            <a:cxnLst/>
            <a:rect r="r" b="b" t="t" l="l"/>
            <a:pathLst>
              <a:path h="4559379" w="4854694">
                <a:moveTo>
                  <a:pt x="0" y="0"/>
                </a:moveTo>
                <a:lnTo>
                  <a:pt x="4854694" y="0"/>
                </a:lnTo>
                <a:lnTo>
                  <a:pt x="4854694" y="4559378"/>
                </a:lnTo>
                <a:lnTo>
                  <a:pt x="0" y="4559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Specialized Database Architecture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914650" y="3360420"/>
            <a:ext cx="1097280" cy="1097280"/>
            <a:chOff x="0" y="0"/>
            <a:chExt cx="146304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914650" y="3360420"/>
            <a:ext cx="1097280" cy="1097280"/>
            <a:chOff x="0" y="0"/>
            <a:chExt cx="14630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 spc="-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4732020"/>
            <a:ext cx="4732020" cy="685800"/>
            <a:chOff x="0" y="0"/>
            <a:chExt cx="6309360" cy="914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630936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Oracle Database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593074" y="3360420"/>
            <a:ext cx="1097280" cy="1097280"/>
            <a:chOff x="0" y="0"/>
            <a:chExt cx="146304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593074" y="3360420"/>
            <a:ext cx="1097280" cy="1097280"/>
            <a:chOff x="0" y="0"/>
            <a:chExt cx="146304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 spc="-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75704" y="4732020"/>
            <a:ext cx="4732020" cy="685800"/>
            <a:chOff x="0" y="0"/>
            <a:chExt cx="630936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630936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MongoDB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271498" y="3360420"/>
            <a:ext cx="1097280" cy="1097280"/>
            <a:chOff x="0" y="0"/>
            <a:chExt cx="146304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271498" y="3360420"/>
            <a:ext cx="1097280" cy="1097280"/>
            <a:chOff x="0" y="0"/>
            <a:chExt cx="1463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6304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 spc="-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54128" y="4732020"/>
            <a:ext cx="4732020" cy="685800"/>
            <a:chOff x="0" y="0"/>
            <a:chExt cx="6309360" cy="914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630936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Redis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10 / 20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97280" y="3069144"/>
            <a:ext cx="4735449" cy="5028108"/>
            <a:chOff x="0" y="0"/>
            <a:chExt cx="1247196" cy="13242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47196" cy="1324275"/>
            </a:xfrm>
            <a:custGeom>
              <a:avLst/>
              <a:gdLst/>
              <a:ahLst/>
              <a:cxnLst/>
              <a:rect r="r" b="b" t="t" l="l"/>
              <a:pathLst>
                <a:path h="1324275" w="1247196">
                  <a:moveTo>
                    <a:pt x="83379" y="0"/>
                  </a:moveTo>
                  <a:lnTo>
                    <a:pt x="1163817" y="0"/>
                  </a:lnTo>
                  <a:cubicBezTo>
                    <a:pt x="1185931" y="0"/>
                    <a:pt x="1207139" y="8785"/>
                    <a:pt x="1222775" y="24421"/>
                  </a:cubicBezTo>
                  <a:cubicBezTo>
                    <a:pt x="1238412" y="40058"/>
                    <a:pt x="1247196" y="61266"/>
                    <a:pt x="1247196" y="83379"/>
                  </a:cubicBezTo>
                  <a:lnTo>
                    <a:pt x="1247196" y="1240896"/>
                  </a:lnTo>
                  <a:cubicBezTo>
                    <a:pt x="1247196" y="1263010"/>
                    <a:pt x="1238412" y="1284218"/>
                    <a:pt x="1222775" y="1299854"/>
                  </a:cubicBezTo>
                  <a:cubicBezTo>
                    <a:pt x="1207139" y="1315491"/>
                    <a:pt x="1185931" y="1324275"/>
                    <a:pt x="1163817" y="1324275"/>
                  </a:cubicBezTo>
                  <a:lnTo>
                    <a:pt x="83379" y="1324275"/>
                  </a:lnTo>
                  <a:cubicBezTo>
                    <a:pt x="61266" y="1324275"/>
                    <a:pt x="40058" y="1315491"/>
                    <a:pt x="24421" y="1299854"/>
                  </a:cubicBezTo>
                  <a:cubicBezTo>
                    <a:pt x="8785" y="1284218"/>
                    <a:pt x="0" y="1263010"/>
                    <a:pt x="0" y="1240896"/>
                  </a:cubicBezTo>
                  <a:lnTo>
                    <a:pt x="0" y="83379"/>
                  </a:lnTo>
                  <a:cubicBezTo>
                    <a:pt x="0" y="61266"/>
                    <a:pt x="8785" y="40058"/>
                    <a:pt x="24421" y="24421"/>
                  </a:cubicBezTo>
                  <a:cubicBezTo>
                    <a:pt x="40058" y="8785"/>
                    <a:pt x="61266" y="0"/>
                    <a:pt x="83379" y="0"/>
                  </a:cubicBezTo>
                  <a:close/>
                </a:path>
              </a:pathLst>
            </a:custGeom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247196" cy="1333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2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57300" y="5562600"/>
            <a:ext cx="4411980" cy="9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Stores structured user/account data, guaranteeing ACID compliance and credential uniqueness.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935724" y="5562600"/>
            <a:ext cx="4411980" cy="9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Document database storing chats, message history, attachment metadata, folders, preferences, and generated images.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614148" y="5562600"/>
            <a:ext cx="4411980" cy="95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High-speed in-memory store handling active sessions, user status, typing events, and call signaling state.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776276" y="3069144"/>
            <a:ext cx="4735449" cy="5028108"/>
            <a:chOff x="0" y="0"/>
            <a:chExt cx="1247196" cy="13242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47196" cy="1324275"/>
            </a:xfrm>
            <a:custGeom>
              <a:avLst/>
              <a:gdLst/>
              <a:ahLst/>
              <a:cxnLst/>
              <a:rect r="r" b="b" t="t" l="l"/>
              <a:pathLst>
                <a:path h="1324275" w="1247196">
                  <a:moveTo>
                    <a:pt x="83379" y="0"/>
                  </a:moveTo>
                  <a:lnTo>
                    <a:pt x="1163817" y="0"/>
                  </a:lnTo>
                  <a:cubicBezTo>
                    <a:pt x="1185931" y="0"/>
                    <a:pt x="1207139" y="8785"/>
                    <a:pt x="1222775" y="24421"/>
                  </a:cubicBezTo>
                  <a:cubicBezTo>
                    <a:pt x="1238412" y="40058"/>
                    <a:pt x="1247196" y="61266"/>
                    <a:pt x="1247196" y="83379"/>
                  </a:cubicBezTo>
                  <a:lnTo>
                    <a:pt x="1247196" y="1240896"/>
                  </a:lnTo>
                  <a:cubicBezTo>
                    <a:pt x="1247196" y="1263010"/>
                    <a:pt x="1238412" y="1284218"/>
                    <a:pt x="1222775" y="1299854"/>
                  </a:cubicBezTo>
                  <a:cubicBezTo>
                    <a:pt x="1207139" y="1315491"/>
                    <a:pt x="1185931" y="1324275"/>
                    <a:pt x="1163817" y="1324275"/>
                  </a:cubicBezTo>
                  <a:lnTo>
                    <a:pt x="83379" y="1324275"/>
                  </a:lnTo>
                  <a:cubicBezTo>
                    <a:pt x="61266" y="1324275"/>
                    <a:pt x="40058" y="1315491"/>
                    <a:pt x="24421" y="1299854"/>
                  </a:cubicBezTo>
                  <a:cubicBezTo>
                    <a:pt x="8785" y="1284218"/>
                    <a:pt x="0" y="1263010"/>
                    <a:pt x="0" y="1240896"/>
                  </a:cubicBezTo>
                  <a:lnTo>
                    <a:pt x="0" y="83379"/>
                  </a:lnTo>
                  <a:cubicBezTo>
                    <a:pt x="0" y="61266"/>
                    <a:pt x="8785" y="40058"/>
                    <a:pt x="24421" y="24421"/>
                  </a:cubicBezTo>
                  <a:cubicBezTo>
                    <a:pt x="40058" y="8785"/>
                    <a:pt x="61266" y="0"/>
                    <a:pt x="83379" y="0"/>
                  </a:cubicBezTo>
                  <a:close/>
                </a:path>
              </a:pathLst>
            </a:custGeom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247196" cy="1333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2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454700" y="3069144"/>
            <a:ext cx="4735449" cy="5028108"/>
            <a:chOff x="0" y="0"/>
            <a:chExt cx="1247196" cy="13242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47196" cy="1324275"/>
            </a:xfrm>
            <a:custGeom>
              <a:avLst/>
              <a:gdLst/>
              <a:ahLst/>
              <a:cxnLst/>
              <a:rect r="r" b="b" t="t" l="l"/>
              <a:pathLst>
                <a:path h="1324275" w="1247196">
                  <a:moveTo>
                    <a:pt x="83379" y="0"/>
                  </a:moveTo>
                  <a:lnTo>
                    <a:pt x="1163817" y="0"/>
                  </a:lnTo>
                  <a:cubicBezTo>
                    <a:pt x="1185931" y="0"/>
                    <a:pt x="1207139" y="8785"/>
                    <a:pt x="1222775" y="24421"/>
                  </a:cubicBezTo>
                  <a:cubicBezTo>
                    <a:pt x="1238412" y="40058"/>
                    <a:pt x="1247196" y="61266"/>
                    <a:pt x="1247196" y="83379"/>
                  </a:cubicBezTo>
                  <a:lnTo>
                    <a:pt x="1247196" y="1240896"/>
                  </a:lnTo>
                  <a:cubicBezTo>
                    <a:pt x="1247196" y="1263010"/>
                    <a:pt x="1238412" y="1284218"/>
                    <a:pt x="1222775" y="1299854"/>
                  </a:cubicBezTo>
                  <a:cubicBezTo>
                    <a:pt x="1207139" y="1315491"/>
                    <a:pt x="1185931" y="1324275"/>
                    <a:pt x="1163817" y="1324275"/>
                  </a:cubicBezTo>
                  <a:lnTo>
                    <a:pt x="83379" y="1324275"/>
                  </a:lnTo>
                  <a:cubicBezTo>
                    <a:pt x="61266" y="1324275"/>
                    <a:pt x="40058" y="1315491"/>
                    <a:pt x="24421" y="1299854"/>
                  </a:cubicBezTo>
                  <a:cubicBezTo>
                    <a:pt x="8785" y="1284218"/>
                    <a:pt x="0" y="1263010"/>
                    <a:pt x="0" y="1240896"/>
                  </a:cubicBezTo>
                  <a:lnTo>
                    <a:pt x="0" y="83379"/>
                  </a:lnTo>
                  <a:cubicBezTo>
                    <a:pt x="0" y="61266"/>
                    <a:pt x="8785" y="40058"/>
                    <a:pt x="24421" y="24421"/>
                  </a:cubicBezTo>
                  <a:cubicBezTo>
                    <a:pt x="40058" y="8785"/>
                    <a:pt x="61266" y="0"/>
                    <a:pt x="83379" y="0"/>
                  </a:cubicBezTo>
                  <a:close/>
                </a:path>
              </a:pathLst>
            </a:custGeom>
            <a:ln w="952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247196" cy="1333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62"/>
                </a:lnSpc>
              </a:pPr>
            </a:p>
          </p:txBody>
        </p:sp>
      </p:grpSp>
      <p:sp>
        <p:nvSpPr>
          <p:cNvPr name="AutoShape 58" id="58"/>
          <p:cNvSpPr/>
          <p:nvPr/>
        </p:nvSpPr>
        <p:spPr>
          <a:xfrm>
            <a:off x="5829300" y="5074920"/>
            <a:ext cx="946404" cy="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1507724" y="5074920"/>
            <a:ext cx="946404" cy="0"/>
          </a:xfrm>
          <a:prstGeom prst="line">
            <a:avLst/>
          </a:prstGeom>
          <a:ln cap="flat" w="38100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60" id="60"/>
          <p:cNvSpPr/>
          <p:nvPr/>
        </p:nvSpPr>
        <p:spPr>
          <a:xfrm flipH="false" flipV="false" rot="0">
            <a:off x="10727991" y="9476741"/>
            <a:ext cx="4381261" cy="4084704"/>
          </a:xfrm>
          <a:custGeom>
            <a:avLst/>
            <a:gdLst/>
            <a:ahLst/>
            <a:cxnLst/>
            <a:rect r="r" b="b" t="t" l="l"/>
            <a:pathLst>
              <a:path h="4084704" w="4381261">
                <a:moveTo>
                  <a:pt x="0" y="0"/>
                </a:moveTo>
                <a:lnTo>
                  <a:pt x="4381261" y="0"/>
                </a:lnTo>
                <a:lnTo>
                  <a:pt x="4381261" y="4084704"/>
                </a:lnTo>
                <a:lnTo>
                  <a:pt x="0" y="40847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11" t="0" r="-11198" b="-1384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SERVER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4133850" cy="512826"/>
            <a:chOff x="0" y="0"/>
            <a:chExt cx="551180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1800" cy="683768"/>
            </a:xfrm>
            <a:custGeom>
              <a:avLst/>
              <a:gdLst/>
              <a:ahLst/>
              <a:cxnLst/>
              <a:rect r="r" b="b" t="t" l="l"/>
              <a:pathLst>
                <a:path h="683768" w="551180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5169916" y="0"/>
                  </a:lnTo>
                  <a:cubicBezTo>
                    <a:pt x="5358765" y="0"/>
                    <a:pt x="5511800" y="153035"/>
                    <a:pt x="5511800" y="341884"/>
                  </a:cubicBezTo>
                  <a:cubicBezTo>
                    <a:pt x="5511800" y="530733"/>
                    <a:pt x="5358765" y="683768"/>
                    <a:pt x="516991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4114800" cy="493776"/>
            <a:chOff x="0" y="0"/>
            <a:chExt cx="548640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658368"/>
            </a:xfrm>
            <a:custGeom>
              <a:avLst/>
              <a:gdLst/>
              <a:ahLst/>
              <a:cxnLst/>
              <a:rect r="r" b="b" t="t" l="l"/>
              <a:pathLst>
                <a:path h="65836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4864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Backend Layered Structure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ASP.NET Core Server Internal Architecture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2674620"/>
            <a:ext cx="123444" cy="1577340"/>
            <a:chOff x="0" y="0"/>
            <a:chExt cx="164592" cy="2103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" cy="2103120"/>
            </a:xfrm>
            <a:custGeom>
              <a:avLst/>
              <a:gdLst/>
              <a:ahLst/>
              <a:cxnLst/>
              <a:rect r="r" b="b" t="t" l="l"/>
              <a:pathLst>
                <a:path h="210312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2839212"/>
            <a:ext cx="3395860" cy="1234440"/>
            <a:chOff x="0" y="0"/>
            <a:chExt cx="4527813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27814" cy="1645920"/>
            </a:xfrm>
            <a:custGeom>
              <a:avLst/>
              <a:gdLst/>
              <a:ahLst/>
              <a:cxnLst/>
              <a:rect r="r" b="b" t="t" l="l"/>
              <a:pathLst>
                <a:path h="1645920" w="4527814">
                  <a:moveTo>
                    <a:pt x="0" y="0"/>
                  </a:moveTo>
                  <a:lnTo>
                    <a:pt x="4527814" y="0"/>
                  </a:lnTo>
                  <a:lnTo>
                    <a:pt x="4527814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-45405" b="-279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527813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Controllers Layer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46520" y="2839212"/>
            <a:ext cx="10835640" cy="1234440"/>
            <a:chOff x="0" y="0"/>
            <a:chExt cx="1444752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47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35" r="0" b="-1210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44475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8 REST controllers (Auth, Users, Chats, Messages, Attachments, Preferences, ChatFolders, GeneratedImages).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54380" y="4430268"/>
            <a:ext cx="123444" cy="1577340"/>
            <a:chOff x="0" y="0"/>
            <a:chExt cx="164592" cy="2103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92" cy="2103120"/>
            </a:xfrm>
            <a:custGeom>
              <a:avLst/>
              <a:gdLst/>
              <a:ahLst/>
              <a:cxnLst/>
              <a:rect r="r" b="b" t="t" l="l"/>
              <a:pathLst>
                <a:path h="210312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4594860"/>
            <a:ext cx="4937760" cy="1234440"/>
            <a:chOff x="0" y="0"/>
            <a:chExt cx="658368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5836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Service Layer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46520" y="4594860"/>
            <a:ext cx="10835640" cy="1234440"/>
            <a:chOff x="0" y="0"/>
            <a:chExt cx="1444752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447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35" r="0" b="-1210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44475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Encapsulates business logic (AuthService, MessageService, ChatService, CallService, etc.).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54380" y="6185916"/>
            <a:ext cx="123444" cy="1577340"/>
            <a:chOff x="0" y="0"/>
            <a:chExt cx="164592" cy="21031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" cy="2103120"/>
            </a:xfrm>
            <a:custGeom>
              <a:avLst/>
              <a:gdLst/>
              <a:ahLst/>
              <a:cxnLst/>
              <a:rect r="r" b="b" t="t" l="l"/>
              <a:pathLst>
                <a:path h="210312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03020" y="6350508"/>
            <a:ext cx="4937760" cy="1234440"/>
            <a:chOff x="0" y="0"/>
            <a:chExt cx="658368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5836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Repository Layer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446520" y="6350508"/>
            <a:ext cx="10835640" cy="1234440"/>
            <a:chOff x="0" y="0"/>
            <a:chExt cx="14447520" cy="16459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47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35" r="0" b="-12103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144475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Data access abstraction via IUserRepository (Oracle) and MongoDB repositories.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4380" y="7941564"/>
            <a:ext cx="123444" cy="1577340"/>
            <a:chOff x="0" y="0"/>
            <a:chExt cx="164592" cy="21031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" cy="2103120"/>
            </a:xfrm>
            <a:custGeom>
              <a:avLst/>
              <a:gdLst/>
              <a:ahLst/>
              <a:cxnLst/>
              <a:rect r="r" b="b" t="t" l="l"/>
              <a:pathLst>
                <a:path h="210312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2103120"/>
                  </a:lnTo>
                  <a:lnTo>
                    <a:pt x="0" y="2103120"/>
                  </a:ln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03020" y="8106156"/>
            <a:ext cx="4937760" cy="1234440"/>
            <a:chOff x="0" y="0"/>
            <a:chExt cx="658368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5836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58368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Dependency Injection </a:t>
              </a:r>
            </a:p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&amp; Middleware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446520" y="8106156"/>
            <a:ext cx="10835640" cy="1234440"/>
            <a:chOff x="0" y="0"/>
            <a:chExt cx="1444752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447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35" r="0" b="-1210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44475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Loose coupling via IoC container; custom middleware for security headers, JWT auth, logging, and error handling.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11 / 20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flipV="true">
            <a:off x="4517805" y="8713851"/>
            <a:ext cx="1203425" cy="16383"/>
          </a:xfrm>
          <a:prstGeom prst="line">
            <a:avLst/>
          </a:prstGeom>
          <a:ln cap="flat" w="3810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 flipV="true">
            <a:off x="4517545" y="6993634"/>
            <a:ext cx="1203425" cy="16383"/>
          </a:xfrm>
          <a:prstGeom prst="line">
            <a:avLst/>
          </a:prstGeom>
          <a:ln cap="flat" w="3810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5" id="55"/>
          <p:cNvSpPr/>
          <p:nvPr/>
        </p:nvSpPr>
        <p:spPr>
          <a:xfrm flipV="true">
            <a:off x="4517286" y="5238752"/>
            <a:ext cx="1203425" cy="16383"/>
          </a:xfrm>
          <a:prstGeom prst="line">
            <a:avLst/>
          </a:prstGeom>
          <a:ln cap="flat" w="3810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6" id="56"/>
          <p:cNvSpPr/>
          <p:nvPr/>
        </p:nvSpPr>
        <p:spPr>
          <a:xfrm flipV="true">
            <a:off x="4518064" y="3483104"/>
            <a:ext cx="1203425" cy="16383"/>
          </a:xfrm>
          <a:prstGeom prst="line">
            <a:avLst/>
          </a:prstGeom>
          <a:ln cap="flat" w="38100">
            <a:solidFill>
              <a:srgbClr val="FF7A29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SERVER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4545330" cy="512826"/>
            <a:chOff x="0" y="0"/>
            <a:chExt cx="60604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60440" cy="683768"/>
            </a:xfrm>
            <a:custGeom>
              <a:avLst/>
              <a:gdLst/>
              <a:ahLst/>
              <a:cxnLst/>
              <a:rect r="r" b="b" t="t" l="l"/>
              <a:pathLst>
                <a:path h="683768" w="60604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5718556" y="0"/>
                  </a:lnTo>
                  <a:cubicBezTo>
                    <a:pt x="5907405" y="0"/>
                    <a:pt x="6060440" y="153035"/>
                    <a:pt x="6060440" y="341884"/>
                  </a:cubicBezTo>
                  <a:cubicBezTo>
                    <a:pt x="6060440" y="530733"/>
                    <a:pt x="5907405" y="683768"/>
                    <a:pt x="57185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4526280" cy="493776"/>
            <a:chOff x="0" y="0"/>
            <a:chExt cx="60350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35040" cy="658368"/>
            </a:xfrm>
            <a:custGeom>
              <a:avLst/>
              <a:gdLst/>
              <a:ahLst/>
              <a:cxnLst/>
              <a:rect r="r" b="b" t="t" l="l"/>
              <a:pathLst>
                <a:path h="65836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6035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Realtime WebSocket Subsystem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Real-Time WebSocket Communication Architecture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6132" y="3086100"/>
            <a:ext cx="7488936" cy="466344"/>
            <a:chOff x="0" y="0"/>
            <a:chExt cx="9985248" cy="62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85248" cy="621792"/>
            </a:xfrm>
            <a:custGeom>
              <a:avLst/>
              <a:gdLst/>
              <a:ahLst/>
              <a:cxnLst/>
              <a:rect r="r" b="b" t="t" l="l"/>
              <a:pathLst>
                <a:path h="621792" w="9985248">
                  <a:moveTo>
                    <a:pt x="0" y="0"/>
                  </a:moveTo>
                  <a:lnTo>
                    <a:pt x="9985248" y="0"/>
                  </a:lnTo>
                  <a:lnTo>
                    <a:pt x="998524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906" r="0" b="-26290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98524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ENDPOINT &amp; CONNECTION LIFECYCLE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47572" y="3633978"/>
            <a:ext cx="730605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Routed via /ws; connection is established and authenticated via JWT within a strict timeout window.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4631817"/>
            <a:ext cx="7804404" cy="466344"/>
            <a:chOff x="0" y="0"/>
            <a:chExt cx="10405872" cy="6217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05872" cy="621792"/>
            </a:xfrm>
            <a:custGeom>
              <a:avLst/>
              <a:gdLst/>
              <a:ahLst/>
              <a:cxnLst/>
              <a:rect r="r" b="b" t="t" l="l"/>
              <a:pathLst>
                <a:path h="621792" w="10405872">
                  <a:moveTo>
                    <a:pt x="0" y="0"/>
                  </a:moveTo>
                  <a:lnTo>
                    <a:pt x="10405872" y="0"/>
                  </a:lnTo>
                  <a:lnTo>
                    <a:pt x="1040587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087" r="0" b="-2760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40587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WEBSOCKETCONNECTIONMANAGER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20140" y="5179695"/>
            <a:ext cx="7621524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Manages active socket sessions and maps connected users to their active channels.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58418" y="6176010"/>
            <a:ext cx="16171164" cy="466344"/>
            <a:chOff x="0" y="0"/>
            <a:chExt cx="21561552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672" r="0" b="-6256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MESSAGE ENVELOPE PROTOCOL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9858" y="6723888"/>
            <a:ext cx="10781109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All events use WebSocketMessageEnvelope with explicit event types and serialized JSON payloads.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57002" y="8101203"/>
            <a:ext cx="6858000" cy="411480"/>
            <a:chOff x="0" y="0"/>
            <a:chExt cx="91440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1440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SUPPORTED EVENTS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49858" y="8601551"/>
            <a:ext cx="1989392" cy="562928"/>
            <a:chOff x="0" y="0"/>
            <a:chExt cx="2652522" cy="7505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52522" cy="750570"/>
            </a:xfrm>
            <a:custGeom>
              <a:avLst/>
              <a:gdLst/>
              <a:ahLst/>
              <a:cxnLst/>
              <a:rect r="r" b="b" t="t" l="l"/>
              <a:pathLst>
                <a:path h="750570" w="2652522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2277237" y="0"/>
                  </a:lnTo>
                  <a:cubicBezTo>
                    <a:pt x="2484501" y="0"/>
                    <a:pt x="2652522" y="168021"/>
                    <a:pt x="2652522" y="375285"/>
                  </a:cubicBezTo>
                  <a:cubicBezTo>
                    <a:pt x="2652522" y="582549"/>
                    <a:pt x="2484501" y="750570"/>
                    <a:pt x="2277237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57002" y="8608695"/>
            <a:ext cx="1975104" cy="548640"/>
            <a:chOff x="0" y="0"/>
            <a:chExt cx="2633472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33472" cy="731520"/>
            </a:xfrm>
            <a:custGeom>
              <a:avLst/>
              <a:gdLst/>
              <a:ahLst/>
              <a:cxnLst/>
              <a:rect r="r" b="b" t="t" l="l"/>
              <a:pathLst>
                <a:path h="731520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633472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New messages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289554" y="8601551"/>
            <a:ext cx="2640902" cy="562928"/>
            <a:chOff x="0" y="0"/>
            <a:chExt cx="3521202" cy="7505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21202" cy="750570"/>
            </a:xfrm>
            <a:custGeom>
              <a:avLst/>
              <a:gdLst/>
              <a:ahLst/>
              <a:cxnLst/>
              <a:rect r="r" b="b" t="t" l="l"/>
              <a:pathLst>
                <a:path h="750570" w="3521202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3145917" y="0"/>
                  </a:lnTo>
                  <a:cubicBezTo>
                    <a:pt x="3353181" y="0"/>
                    <a:pt x="3521202" y="168021"/>
                    <a:pt x="3521202" y="375285"/>
                  </a:cubicBezTo>
                  <a:cubicBezTo>
                    <a:pt x="3521202" y="582549"/>
                    <a:pt x="3353181" y="750570"/>
                    <a:pt x="3145917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3296698" y="8608695"/>
            <a:ext cx="2626614" cy="548640"/>
            <a:chOff x="0" y="0"/>
            <a:chExt cx="3502152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02152" cy="731520"/>
            </a:xfrm>
            <a:custGeom>
              <a:avLst/>
              <a:gdLst/>
              <a:ahLst/>
              <a:cxnLst/>
              <a:rect r="r" b="b" t="t" l="l"/>
              <a:pathLst>
                <a:path h="731520" w="3502152">
                  <a:moveTo>
                    <a:pt x="0" y="0"/>
                  </a:moveTo>
                  <a:lnTo>
                    <a:pt x="3502152" y="0"/>
                  </a:lnTo>
                  <a:lnTo>
                    <a:pt x="350215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84" r="0" b="-4328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502152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Typing indicators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080760" y="8601551"/>
            <a:ext cx="3553016" cy="562928"/>
            <a:chOff x="0" y="0"/>
            <a:chExt cx="4737354" cy="75057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37354" cy="750570"/>
            </a:xfrm>
            <a:custGeom>
              <a:avLst/>
              <a:gdLst/>
              <a:ahLst/>
              <a:cxnLst/>
              <a:rect r="r" b="b" t="t" l="l"/>
              <a:pathLst>
                <a:path h="750570" w="4737354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4362069" y="0"/>
                  </a:lnTo>
                  <a:cubicBezTo>
                    <a:pt x="4569333" y="0"/>
                    <a:pt x="4737354" y="168021"/>
                    <a:pt x="4737354" y="375285"/>
                  </a:cubicBezTo>
                  <a:cubicBezTo>
                    <a:pt x="4737354" y="582549"/>
                    <a:pt x="4569333" y="750570"/>
                    <a:pt x="4362069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087904" y="8608695"/>
            <a:ext cx="3538728" cy="548640"/>
            <a:chOff x="0" y="0"/>
            <a:chExt cx="4718304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18304" cy="731520"/>
            </a:xfrm>
            <a:custGeom>
              <a:avLst/>
              <a:gdLst/>
              <a:ahLst/>
              <a:cxnLst/>
              <a:rect r="r" b="b" t="t" l="l"/>
              <a:pathLst>
                <a:path h="731520" w="4718304">
                  <a:moveTo>
                    <a:pt x="0" y="0"/>
                  </a:moveTo>
                  <a:lnTo>
                    <a:pt x="4718304" y="0"/>
                  </a:lnTo>
                  <a:lnTo>
                    <a:pt x="471830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78" r="0" b="-7567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71830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Read / delivered updates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84080" y="8601551"/>
            <a:ext cx="2510600" cy="562928"/>
            <a:chOff x="0" y="0"/>
            <a:chExt cx="3347466" cy="75057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47466" cy="750570"/>
            </a:xfrm>
            <a:custGeom>
              <a:avLst/>
              <a:gdLst/>
              <a:ahLst/>
              <a:cxnLst/>
              <a:rect r="r" b="b" t="t" l="l"/>
              <a:pathLst>
                <a:path h="750570" w="3347466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2972181" y="0"/>
                  </a:lnTo>
                  <a:cubicBezTo>
                    <a:pt x="3179445" y="0"/>
                    <a:pt x="3347466" y="168021"/>
                    <a:pt x="3347466" y="375285"/>
                  </a:cubicBezTo>
                  <a:cubicBezTo>
                    <a:pt x="3347466" y="582549"/>
                    <a:pt x="3179445" y="750570"/>
                    <a:pt x="2972181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791224" y="8608695"/>
            <a:ext cx="2496312" cy="548640"/>
            <a:chOff x="0" y="0"/>
            <a:chExt cx="3328416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28416" cy="731520"/>
            </a:xfrm>
            <a:custGeom>
              <a:avLst/>
              <a:gdLst/>
              <a:ahLst/>
              <a:cxnLst/>
              <a:rect r="r" b="b" t="t" l="l"/>
              <a:pathLst>
                <a:path h="731520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656" r="0" b="-3865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328416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Presence changes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444984" y="8601551"/>
            <a:ext cx="2249996" cy="562928"/>
            <a:chOff x="0" y="0"/>
            <a:chExt cx="2999994" cy="7505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999994" cy="750570"/>
            </a:xfrm>
            <a:custGeom>
              <a:avLst/>
              <a:gdLst/>
              <a:ahLst/>
              <a:cxnLst/>
              <a:rect r="r" b="b" t="t" l="l"/>
              <a:pathLst>
                <a:path h="750570" w="2999994">
                  <a:moveTo>
                    <a:pt x="0" y="375285"/>
                  </a:moveTo>
                  <a:cubicBezTo>
                    <a:pt x="0" y="168021"/>
                    <a:pt x="168021" y="0"/>
                    <a:pt x="375285" y="0"/>
                  </a:cubicBezTo>
                  <a:lnTo>
                    <a:pt x="2624709" y="0"/>
                  </a:lnTo>
                  <a:cubicBezTo>
                    <a:pt x="2831973" y="0"/>
                    <a:pt x="2999994" y="168021"/>
                    <a:pt x="2999994" y="375285"/>
                  </a:cubicBezTo>
                  <a:cubicBezTo>
                    <a:pt x="2999994" y="582549"/>
                    <a:pt x="2831973" y="750570"/>
                    <a:pt x="2624709" y="750570"/>
                  </a:cubicBezTo>
                  <a:lnTo>
                    <a:pt x="375285" y="750570"/>
                  </a:lnTo>
                  <a:cubicBezTo>
                    <a:pt x="168021" y="750570"/>
                    <a:pt x="0" y="582549"/>
                    <a:pt x="0" y="375285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452128" y="8608695"/>
            <a:ext cx="2235708" cy="548640"/>
            <a:chOff x="0" y="0"/>
            <a:chExt cx="2980944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80944" cy="731520"/>
            </a:xfrm>
            <a:custGeom>
              <a:avLst/>
              <a:gdLst/>
              <a:ahLst/>
              <a:cxnLst/>
              <a:rect r="r" b="b" t="t" l="l"/>
              <a:pathLst>
                <a:path h="731520" w="2980944">
                  <a:moveTo>
                    <a:pt x="0" y="0"/>
                  </a:moveTo>
                  <a:lnTo>
                    <a:pt x="2980944" y="0"/>
                  </a:lnTo>
                  <a:lnTo>
                    <a:pt x="29809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01" r="0" b="-2940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980944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Call signaling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12 / 20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3072759" y="3173480"/>
            <a:ext cx="3244440" cy="3002530"/>
          </a:xfrm>
          <a:custGeom>
            <a:avLst/>
            <a:gdLst/>
            <a:ahLst/>
            <a:cxnLst/>
            <a:rect r="r" b="b" t="t" l="l"/>
            <a:pathLst>
              <a:path h="3002530" w="3244440">
                <a:moveTo>
                  <a:pt x="0" y="0"/>
                </a:moveTo>
                <a:lnTo>
                  <a:pt x="3244441" y="0"/>
                </a:lnTo>
                <a:lnTo>
                  <a:pt x="3244441" y="3002530"/>
                </a:lnTo>
                <a:lnTo>
                  <a:pt x="0" y="30025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SHARED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4133850" cy="512826"/>
            <a:chOff x="0" y="0"/>
            <a:chExt cx="551180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11800" cy="683768"/>
            </a:xfrm>
            <a:custGeom>
              <a:avLst/>
              <a:gdLst/>
              <a:ahLst/>
              <a:cxnLst/>
              <a:rect r="r" b="b" t="t" l="l"/>
              <a:pathLst>
                <a:path h="683768" w="551180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5169916" y="0"/>
                  </a:lnTo>
                  <a:cubicBezTo>
                    <a:pt x="5358765" y="0"/>
                    <a:pt x="5511800" y="153035"/>
                    <a:pt x="5511800" y="341884"/>
                  </a:cubicBezTo>
                  <a:cubicBezTo>
                    <a:pt x="5511800" y="530733"/>
                    <a:pt x="5358765" y="683768"/>
                    <a:pt x="516991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4114800" cy="493776"/>
            <a:chOff x="0" y="0"/>
            <a:chExt cx="548640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658368"/>
            </a:xfrm>
            <a:custGeom>
              <a:avLst/>
              <a:gdLst/>
              <a:ahLst/>
              <a:cxnLst/>
              <a:rect r="r" b="b" t="t" l="l"/>
              <a:pathLst>
                <a:path h="658368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548640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Common Models &amp; Contracts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Shared Contracts &amp; Communication Protocol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7236" y="2667476"/>
            <a:ext cx="16788956" cy="1454468"/>
            <a:chOff x="0" y="0"/>
            <a:chExt cx="22385274" cy="19392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85274" cy="1939290"/>
            </a:xfrm>
            <a:custGeom>
              <a:avLst/>
              <a:gdLst/>
              <a:ahLst/>
              <a:cxnLst/>
              <a:rect r="r" b="b" t="t" l="l"/>
              <a:pathLst>
                <a:path h="1939290" w="22385274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22163660" y="0"/>
                  </a:lnTo>
                  <a:cubicBezTo>
                    <a:pt x="22286088" y="0"/>
                    <a:pt x="22385274" y="99187"/>
                    <a:pt x="22385274" y="221615"/>
                  </a:cubicBezTo>
                  <a:lnTo>
                    <a:pt x="22385274" y="1717675"/>
                  </a:lnTo>
                  <a:cubicBezTo>
                    <a:pt x="22385274" y="1840103"/>
                    <a:pt x="22286088" y="1939290"/>
                    <a:pt x="22163660" y="1939290"/>
                  </a:cubicBezTo>
                  <a:lnTo>
                    <a:pt x="221615" y="1939290"/>
                  </a:lnTo>
                  <a:cubicBezTo>
                    <a:pt x="99187" y="1939290"/>
                    <a:pt x="0" y="1840103"/>
                    <a:pt x="0" y="171767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56132" y="3086100"/>
            <a:ext cx="16171164" cy="466344"/>
            <a:chOff x="0" y="0"/>
            <a:chExt cx="2156155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672" r="0" b="-6256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PURPOSE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469" y="4498848"/>
            <a:ext cx="4882896" cy="466344"/>
            <a:chOff x="0" y="0"/>
            <a:chExt cx="6510528" cy="6217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10528" cy="621792"/>
            </a:xfrm>
            <a:custGeom>
              <a:avLst/>
              <a:gdLst/>
              <a:ahLst/>
              <a:cxnLst/>
              <a:rect r="r" b="b" t="t" l="l"/>
              <a:pathLst>
                <a:path h="621792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19" r="0" b="-15401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51052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DTOs &amp; MODELS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56485" y="4498848"/>
            <a:ext cx="4882896" cy="466344"/>
            <a:chOff x="0" y="0"/>
            <a:chExt cx="6510528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10528" cy="621792"/>
            </a:xfrm>
            <a:custGeom>
              <a:avLst/>
              <a:gdLst/>
              <a:ahLst/>
              <a:cxnLst/>
              <a:rect r="r" b="b" t="t" l="l"/>
              <a:pathLst>
                <a:path h="621792" w="6510528">
                  <a:moveTo>
                    <a:pt x="0" y="0"/>
                  </a:moveTo>
                  <a:lnTo>
                    <a:pt x="6510528" y="0"/>
                  </a:lnTo>
                  <a:lnTo>
                    <a:pt x="651052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019" r="0" b="-15401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51052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WEBSOCKET CONTRACTS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951851" y="4498848"/>
            <a:ext cx="4786884" cy="466344"/>
            <a:chOff x="0" y="0"/>
            <a:chExt cx="6382512" cy="6217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82512" cy="621792"/>
            </a:xfrm>
            <a:custGeom>
              <a:avLst/>
              <a:gdLst/>
              <a:ahLst/>
              <a:cxnLst/>
              <a:rect r="r" b="b" t="t" l="l"/>
              <a:pathLst>
                <a:path h="621792" w="6382512">
                  <a:moveTo>
                    <a:pt x="0" y="0"/>
                  </a:moveTo>
                  <a:lnTo>
                    <a:pt x="6382512" y="0"/>
                  </a:lnTo>
                  <a:lnTo>
                    <a:pt x="638251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008" r="0" b="-1500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38251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ENUMS &amp; UTILITIES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13 / 20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5092766" y="431961"/>
            <a:ext cx="1915074" cy="1879279"/>
          </a:xfrm>
          <a:custGeom>
            <a:avLst/>
            <a:gdLst/>
            <a:ahLst/>
            <a:cxnLst/>
            <a:rect r="r" b="b" t="t" l="l"/>
            <a:pathLst>
              <a:path h="1879279" w="1915074">
                <a:moveTo>
                  <a:pt x="0" y="0"/>
                </a:moveTo>
                <a:lnTo>
                  <a:pt x="1915074" y="0"/>
                </a:lnTo>
                <a:lnTo>
                  <a:pt x="1915074" y="1879278"/>
                </a:lnTo>
                <a:lnTo>
                  <a:pt x="0" y="1879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47572" y="3624453"/>
            <a:ext cx="11803023" cy="3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Single source of definitions shared between Server, WPF Client, and Web Client to eliminate contract drift.</a:t>
            </a:r>
          </a:p>
        </p:txBody>
      </p:sp>
      <p:grpSp>
        <p:nvGrpSpPr>
          <p:cNvPr name="Group 37" id="37"/>
          <p:cNvGrpSpPr/>
          <p:nvPr/>
        </p:nvGrpSpPr>
        <p:grpSpPr>
          <a:xfrm rot="-10800000">
            <a:off x="6625383" y="5056602"/>
            <a:ext cx="4345101" cy="3801963"/>
            <a:chOff x="0" y="0"/>
            <a:chExt cx="812800" cy="711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10800000">
            <a:off x="1205926" y="5056602"/>
            <a:ext cx="4345101" cy="3801963"/>
            <a:chOff x="0" y="0"/>
            <a:chExt cx="812800" cy="711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28469" y="5279898"/>
            <a:ext cx="4700016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SavedMessagesDto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MessageAttachmentDto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UserPreferenceDto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ChatFolderDto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UserDto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ChatDto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MessageDto</a:t>
            </a:r>
          </a:p>
          <a:p>
            <a:pPr algn="ctr">
              <a:lnSpc>
                <a:spcPts val="243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6447925" y="5292852"/>
            <a:ext cx="4700016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UserStatusChangedContract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ChatMessageContract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TypingIndicatorContract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MessageReadContract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CallContracts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043291" y="5279898"/>
            <a:ext cx="4604004" cy="152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Custom exception classes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Serialization helpers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UserStatus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ChatType</a:t>
            </a:r>
          </a:p>
          <a:p>
            <a:pPr algn="ctr">
              <a:lnSpc>
                <a:spcPts val="2430"/>
              </a:lnSpc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MessageStatus</a:t>
            </a:r>
          </a:p>
        </p:txBody>
      </p:sp>
      <p:grpSp>
        <p:nvGrpSpPr>
          <p:cNvPr name="Group 46" id="46"/>
          <p:cNvGrpSpPr/>
          <p:nvPr/>
        </p:nvGrpSpPr>
        <p:grpSpPr>
          <a:xfrm rot="-10800000">
            <a:off x="12043291" y="5071818"/>
            <a:ext cx="4345101" cy="3801963"/>
            <a:chOff x="0" y="0"/>
            <a:chExt cx="812800" cy="711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127000" y="311150"/>
              <a:ext cx="5588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CLIENT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3722370" cy="512826"/>
            <a:chOff x="0" y="0"/>
            <a:chExt cx="496316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63160" cy="683768"/>
            </a:xfrm>
            <a:custGeom>
              <a:avLst/>
              <a:gdLst/>
              <a:ahLst/>
              <a:cxnLst/>
              <a:rect r="r" b="b" t="t" l="l"/>
              <a:pathLst>
                <a:path h="683768" w="496316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621276" y="0"/>
                  </a:lnTo>
                  <a:cubicBezTo>
                    <a:pt x="4810125" y="0"/>
                    <a:pt x="4963160" y="153035"/>
                    <a:pt x="4963160" y="341884"/>
                  </a:cubicBezTo>
                  <a:cubicBezTo>
                    <a:pt x="4963160" y="530733"/>
                    <a:pt x="4810125" y="683768"/>
                    <a:pt x="462127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3703320" cy="493776"/>
            <a:chOff x="0" y="0"/>
            <a:chExt cx="493776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37760" cy="658368"/>
            </a:xfrm>
            <a:custGeom>
              <a:avLst/>
              <a:gdLst/>
              <a:ahLst/>
              <a:cxnLst/>
              <a:rect r="r" b="b" t="t" l="l"/>
              <a:pathLst>
                <a:path h="658368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93776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WPF &amp; Web Architecture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Desktop (WPF) and Web Client Architecture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6132" y="3086100"/>
            <a:ext cx="9409176" cy="466344"/>
            <a:chOff x="0" y="0"/>
            <a:chExt cx="12545568" cy="6217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45568" cy="621792"/>
            </a:xfrm>
            <a:custGeom>
              <a:avLst/>
              <a:gdLst/>
              <a:ahLst/>
              <a:cxnLst/>
              <a:rect r="r" b="b" t="t" l="l"/>
              <a:pathLst>
                <a:path h="621792" w="12545568">
                  <a:moveTo>
                    <a:pt x="0" y="0"/>
                  </a:moveTo>
                  <a:lnTo>
                    <a:pt x="12545568" y="0"/>
                  </a:lnTo>
                  <a:lnTo>
                    <a:pt x="1254556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139" r="0" b="-34313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254556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WPF CLIENT (MVVM)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401029"/>
            <a:ext cx="5952744" cy="466344"/>
            <a:chOff x="0" y="0"/>
            <a:chExt cx="7936992" cy="6217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36992" cy="621792"/>
            </a:xfrm>
            <a:custGeom>
              <a:avLst/>
              <a:gdLst/>
              <a:ahLst/>
              <a:cxnLst/>
              <a:rect r="r" b="b" t="t" l="l"/>
              <a:pathLst>
                <a:path h="621792" w="7936992">
                  <a:moveTo>
                    <a:pt x="0" y="0"/>
                  </a:moveTo>
                  <a:lnTo>
                    <a:pt x="7936992" y="0"/>
                  </a:lnTo>
                  <a:lnTo>
                    <a:pt x="793699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720" r="0" b="-1987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93699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 CLIENT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14 / 20</a:t>
              </a:r>
            </a:p>
          </p:txBody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9721417" y="3319272"/>
            <a:ext cx="7286423" cy="4755605"/>
            <a:chOff x="0" y="0"/>
            <a:chExt cx="19050000" cy="124333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452880" y="587121"/>
              <a:ext cx="16166846" cy="10116185"/>
            </a:xfrm>
            <a:custGeom>
              <a:avLst/>
              <a:gdLst/>
              <a:ahLst/>
              <a:cxnLst/>
              <a:rect r="r" b="b" t="t" l="l"/>
              <a:pathLst>
                <a:path h="10116185" w="16166846">
                  <a:moveTo>
                    <a:pt x="16166846" y="0"/>
                  </a:moveTo>
                  <a:lnTo>
                    <a:pt x="16166846" y="10116185"/>
                  </a:lnTo>
                  <a:lnTo>
                    <a:pt x="0" y="10116185"/>
                  </a:lnTo>
                  <a:lnTo>
                    <a:pt x="0" y="0"/>
                  </a:lnTo>
                  <a:lnTo>
                    <a:pt x="16166846" y="0"/>
                  </a:lnTo>
                  <a:close/>
                </a:path>
              </a:pathLst>
            </a:custGeom>
            <a:blipFill>
              <a:blip r:embed="rId4"/>
              <a:stretch>
                <a:fillRect l="0" t="-2172" r="0" b="-2172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000" cy="12433300"/>
            </a:xfrm>
            <a:custGeom>
              <a:avLst/>
              <a:gdLst/>
              <a:ahLst/>
              <a:cxnLst/>
              <a:rect r="r" b="b" t="t" l="l"/>
              <a:pathLst>
                <a:path h="12433300" w="19050000">
                  <a:moveTo>
                    <a:pt x="19050000" y="0"/>
                  </a:moveTo>
                  <a:lnTo>
                    <a:pt x="19050000" y="12433300"/>
                  </a:lnTo>
                  <a:lnTo>
                    <a:pt x="0" y="12433300"/>
                  </a:lnTo>
                  <a:lnTo>
                    <a:pt x="0" y="0"/>
                  </a:lnTo>
                  <a:lnTo>
                    <a:pt x="19050000" y="0"/>
                  </a:lnTo>
                  <a:close/>
                </a:path>
              </a:pathLst>
            </a:custGeom>
            <a:blipFill>
              <a:blip r:embed="rId5"/>
              <a:stretch>
                <a:fillRect l="-301" t="0" r="-301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47572" y="3624453"/>
            <a:ext cx="6783635" cy="251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Views:  XAML-based screens (ChatView, LoginView, CallWindow, GeneratorView, etc.).</a:t>
            </a:r>
          </a:p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ViewModels:  Data binding and command handling (ChatViewModel, CallViewModel, LoginViewModel).</a:t>
            </a:r>
          </a:p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Client Services:  MessagingService, AuthenticationService, OfflineMessageQueue, CredentialStorageService (LiteDB).</a:t>
            </a:r>
          </a:p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CallOverlayView / CallViewModel, DocumentPreviewService, WallpaperSelectorView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0140" y="6939382"/>
            <a:ext cx="5769864" cy="1262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Lightweight HTML5, CSS3, ES6+ JS client served via Nginx in Docker, communicating with the exact same REST/WS backend.</a:t>
            </a:r>
          </a:p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WebRTC API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SECURITY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4545330" cy="512826"/>
            <a:chOff x="0" y="0"/>
            <a:chExt cx="60604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60440" cy="683768"/>
            </a:xfrm>
            <a:custGeom>
              <a:avLst/>
              <a:gdLst/>
              <a:ahLst/>
              <a:cxnLst/>
              <a:rect r="r" b="b" t="t" l="l"/>
              <a:pathLst>
                <a:path h="683768" w="60604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5718556" y="0"/>
                  </a:lnTo>
                  <a:cubicBezTo>
                    <a:pt x="5907405" y="0"/>
                    <a:pt x="6060440" y="153035"/>
                    <a:pt x="6060440" y="341884"/>
                  </a:cubicBezTo>
                  <a:cubicBezTo>
                    <a:pt x="6060440" y="530733"/>
                    <a:pt x="5907405" y="683768"/>
                    <a:pt x="57185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4526280" cy="493776"/>
            <a:chOff x="0" y="0"/>
            <a:chExt cx="60350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35040" cy="658368"/>
            </a:xfrm>
            <a:custGeom>
              <a:avLst/>
              <a:gdLst/>
              <a:ahLst/>
              <a:cxnLst/>
              <a:rect r="r" b="b" t="t" l="l"/>
              <a:pathLst>
                <a:path h="658368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60350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System Security Architecture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Authentication, Authorization, and Data Protection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058668"/>
            <a:ext cx="2674620" cy="822960"/>
            <a:chOff x="0" y="0"/>
            <a:chExt cx="356616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3017520" y="0"/>
                  </a:lnTo>
                  <a:cubicBezTo>
                    <a:pt x="3320542" y="0"/>
                    <a:pt x="3566160" y="245618"/>
                    <a:pt x="3566160" y="548640"/>
                  </a:cubicBezTo>
                  <a:cubicBezTo>
                    <a:pt x="3566160" y="851662"/>
                    <a:pt x="3320542" y="1097280"/>
                    <a:pt x="30175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3058668"/>
            <a:ext cx="2674620" cy="822960"/>
            <a:chOff x="0" y="0"/>
            <a:chExt cx="356616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5661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NFR-01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114800" y="2852928"/>
            <a:ext cx="3977640" cy="1234440"/>
            <a:chOff x="0" y="0"/>
            <a:chExt cx="5303520" cy="1645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303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53035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Password Hashing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98180" y="2852928"/>
            <a:ext cx="8983980" cy="1234440"/>
            <a:chOff x="0" y="0"/>
            <a:chExt cx="11978640" cy="1645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978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119786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Passwords hashed using BCrypt (work factor 11).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28700" y="4814316"/>
            <a:ext cx="2674620" cy="822960"/>
            <a:chOff x="0" y="0"/>
            <a:chExt cx="356616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3017520" y="0"/>
                  </a:lnTo>
                  <a:cubicBezTo>
                    <a:pt x="3320542" y="0"/>
                    <a:pt x="3566160" y="245618"/>
                    <a:pt x="3566160" y="548640"/>
                  </a:cubicBezTo>
                  <a:cubicBezTo>
                    <a:pt x="3566160" y="851662"/>
                    <a:pt x="3320542" y="1097280"/>
                    <a:pt x="30175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28700" y="4814316"/>
            <a:ext cx="2674620" cy="822960"/>
            <a:chOff x="0" y="0"/>
            <a:chExt cx="356616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5661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NFR-02 / NFR-03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114800" y="4608576"/>
            <a:ext cx="3977640" cy="1234440"/>
            <a:chOff x="0" y="0"/>
            <a:chExt cx="5303520" cy="1645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3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3035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Token Authentication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298180" y="4608576"/>
            <a:ext cx="8983980" cy="1234440"/>
            <a:chOff x="0" y="0"/>
            <a:chExt cx="1197864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978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19786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JWT Access Tokens for API operations + Refresh Tokens for session persistence.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8700" y="6569964"/>
            <a:ext cx="2674620" cy="822960"/>
            <a:chOff x="0" y="0"/>
            <a:chExt cx="356616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3017520" y="0"/>
                  </a:lnTo>
                  <a:cubicBezTo>
                    <a:pt x="3320542" y="0"/>
                    <a:pt x="3566160" y="245618"/>
                    <a:pt x="3566160" y="548640"/>
                  </a:cubicBezTo>
                  <a:cubicBezTo>
                    <a:pt x="3566160" y="851662"/>
                    <a:pt x="3320542" y="1097280"/>
                    <a:pt x="30175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28700" y="6569964"/>
            <a:ext cx="2674620" cy="822960"/>
            <a:chOff x="0" y="0"/>
            <a:chExt cx="356616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5661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NFR-04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14800" y="6364224"/>
            <a:ext cx="3977640" cy="1234440"/>
            <a:chOff x="0" y="0"/>
            <a:chExt cx="5303520" cy="1645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03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3035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Authorization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98180" y="6364224"/>
            <a:ext cx="8983980" cy="1234440"/>
            <a:chOff x="0" y="0"/>
            <a:chExt cx="11978640" cy="1645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78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119786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Strict resource ownership checks — users edit/delete only their own messages.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8700" y="8325612"/>
            <a:ext cx="2674620" cy="822960"/>
            <a:chOff x="0" y="0"/>
            <a:chExt cx="356616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lnTo>
                    <a:pt x="3017520" y="0"/>
                  </a:lnTo>
                  <a:cubicBezTo>
                    <a:pt x="3320542" y="0"/>
                    <a:pt x="3566160" y="245618"/>
                    <a:pt x="3566160" y="548640"/>
                  </a:cubicBezTo>
                  <a:cubicBezTo>
                    <a:pt x="3566160" y="851662"/>
                    <a:pt x="3320542" y="1097280"/>
                    <a:pt x="3017520" y="1097280"/>
                  </a:cubicBezTo>
                  <a:lnTo>
                    <a:pt x="548640" y="1097280"/>
                  </a:ln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28700" y="8325612"/>
            <a:ext cx="2674620" cy="822960"/>
            <a:chOff x="0" y="0"/>
            <a:chExt cx="356616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566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5661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NFR-05 – NFR-07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114800" y="8119872"/>
            <a:ext cx="3977640" cy="1234440"/>
            <a:chOff x="0" y="0"/>
            <a:chExt cx="5303520" cy="16459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035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5303520">
                  <a:moveTo>
                    <a:pt x="0" y="0"/>
                  </a:moveTo>
                  <a:lnTo>
                    <a:pt x="5303520" y="0"/>
                  </a:lnTo>
                  <a:lnTo>
                    <a:pt x="53035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85" r="0" b="-1278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303520" cy="1645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Infrastructure Security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298180" y="8119872"/>
            <a:ext cx="8983980" cy="1234440"/>
            <a:chOff x="0" y="0"/>
            <a:chExt cx="11978640" cy="1645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9786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807" r="0" b="-9180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19786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7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Rate limiting against brute-force/DDoS, authenticated WebSockets, CORS, security headers.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15 / 20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>
            <a:off x="1028700" y="4363593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>
            <a:off x="1028700" y="6119241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>
            <a:off x="1051560" y="7874889"/>
            <a:ext cx="16230600" cy="0"/>
          </a:xfrm>
          <a:prstGeom prst="line">
            <a:avLst/>
          </a:prstGeom>
          <a:ln cap="flat" w="38100">
            <a:solidFill>
              <a:srgbClr val="FE630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9260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2762250" cy="512826"/>
            <a:chOff x="0" y="0"/>
            <a:chExt cx="368300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3000" cy="683768"/>
            </a:xfrm>
            <a:custGeom>
              <a:avLst/>
              <a:gdLst/>
              <a:ahLst/>
              <a:cxnLst/>
              <a:rect r="r" b="b" t="t" l="l"/>
              <a:pathLst>
                <a:path h="683768" w="368300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341116" y="0"/>
                  </a:lnTo>
                  <a:cubicBezTo>
                    <a:pt x="3529965" y="0"/>
                    <a:pt x="3683000" y="153035"/>
                    <a:pt x="3683000" y="341884"/>
                  </a:cubicBezTo>
                  <a:cubicBezTo>
                    <a:pt x="3683000" y="530733"/>
                    <a:pt x="3529965" y="683768"/>
                    <a:pt x="334111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2743200" cy="493776"/>
            <a:chOff x="0" y="0"/>
            <a:chExt cx="365760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57600" cy="658368"/>
            </a:xfrm>
            <a:custGeom>
              <a:avLst/>
              <a:gdLst/>
              <a:ahLst/>
              <a:cxnLst/>
              <a:rect r="r" b="b" t="t" l="l"/>
              <a:pathLst>
                <a:path h="65836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657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Schema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1116711"/>
            <a:chOff x="0" y="0"/>
            <a:chExt cx="22311360" cy="14889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488948"/>
            </a:xfrm>
            <a:custGeom>
              <a:avLst/>
              <a:gdLst/>
              <a:ahLst/>
              <a:cxnLst/>
              <a:rect r="r" b="b" t="t" l="l"/>
              <a:pathLst>
                <a:path h="1488948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488948"/>
                  </a:lnTo>
                  <a:lnTo>
                    <a:pt x="0" y="1488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987" r="0" b="-2349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4889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Polyglot Database Schema (Oracle, MongoDB, Redis)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NexusTeam — THWS Project Defense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 / 20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5552708" y="2488311"/>
            <a:ext cx="7922478" cy="7798689"/>
          </a:xfrm>
          <a:custGeom>
            <a:avLst/>
            <a:gdLst/>
            <a:ahLst/>
            <a:cxnLst/>
            <a:rect r="r" b="b" t="t" l="l"/>
            <a:pathLst>
              <a:path h="7798689" w="7922478">
                <a:moveTo>
                  <a:pt x="0" y="0"/>
                </a:moveTo>
                <a:lnTo>
                  <a:pt x="7922478" y="0"/>
                </a:lnTo>
                <a:lnTo>
                  <a:pt x="7922478" y="7798689"/>
                </a:lnTo>
                <a:lnTo>
                  <a:pt x="0" y="7798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9260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2487930" cy="512826"/>
            <a:chOff x="0" y="0"/>
            <a:chExt cx="33172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17240" cy="683768"/>
            </a:xfrm>
            <a:custGeom>
              <a:avLst/>
              <a:gdLst/>
              <a:ahLst/>
              <a:cxnLst/>
              <a:rect r="r" b="b" t="t" l="l"/>
              <a:pathLst>
                <a:path h="683768" w="33172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2975356" y="0"/>
                  </a:lnTo>
                  <a:cubicBezTo>
                    <a:pt x="3164205" y="0"/>
                    <a:pt x="3317240" y="153035"/>
                    <a:pt x="3317240" y="341884"/>
                  </a:cubicBezTo>
                  <a:cubicBezTo>
                    <a:pt x="3317240" y="530733"/>
                    <a:pt x="3164205" y="683768"/>
                    <a:pt x="29753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2468880" cy="493776"/>
            <a:chOff x="0" y="0"/>
            <a:chExt cx="32918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29184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Diagram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1802511"/>
            <a:chOff x="0" y="0"/>
            <a:chExt cx="22311360" cy="24033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2403348"/>
            </a:xfrm>
            <a:custGeom>
              <a:avLst/>
              <a:gdLst/>
              <a:ahLst/>
              <a:cxnLst/>
              <a:rect r="r" b="b" t="t" l="l"/>
              <a:pathLst>
                <a:path h="2403348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2403348"/>
                  </a:lnTo>
                  <a:lnTo>
                    <a:pt x="0" y="2403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255" r="0" b="-107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2403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7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System Class Diagram </a:t>
              </a:r>
            </a:p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&amp; Service Interaction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NexusTeam — THWS Project Defense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/ 20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7634796" y="0"/>
            <a:ext cx="10653204" cy="10287000"/>
          </a:xfrm>
          <a:custGeom>
            <a:avLst/>
            <a:gdLst/>
            <a:ahLst/>
            <a:cxnLst/>
            <a:rect r="r" b="b" t="t" l="l"/>
            <a:pathLst>
              <a:path h="10287000" w="10653204">
                <a:moveTo>
                  <a:pt x="0" y="0"/>
                </a:moveTo>
                <a:lnTo>
                  <a:pt x="10653204" y="0"/>
                </a:lnTo>
                <a:lnTo>
                  <a:pt x="1065320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9260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DIAGRAMS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2899410" cy="512826"/>
            <a:chOff x="0" y="0"/>
            <a:chExt cx="386588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65880" cy="683768"/>
            </a:xfrm>
            <a:custGeom>
              <a:avLst/>
              <a:gdLst/>
              <a:ahLst/>
              <a:cxnLst/>
              <a:rect r="r" b="b" t="t" l="l"/>
              <a:pathLst>
                <a:path h="683768" w="386588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523996" y="0"/>
                  </a:lnTo>
                  <a:cubicBezTo>
                    <a:pt x="3712845" y="0"/>
                    <a:pt x="3865880" y="153035"/>
                    <a:pt x="3865880" y="341884"/>
                  </a:cubicBezTo>
                  <a:cubicBezTo>
                    <a:pt x="3865880" y="530733"/>
                    <a:pt x="3712845" y="683768"/>
                    <a:pt x="352399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2880360" cy="493776"/>
            <a:chOff x="0" y="0"/>
            <a:chExt cx="384048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40480" cy="658368"/>
            </a:xfrm>
            <a:custGeom>
              <a:avLst/>
              <a:gdLst/>
              <a:ahLst/>
              <a:cxnLst/>
              <a:rect r="r" b="b" t="t" l="l"/>
              <a:pathLst>
                <a:path h="658368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384048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 Case Diagram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1802511"/>
            <a:chOff x="0" y="0"/>
            <a:chExt cx="22311360" cy="240334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2403348"/>
            </a:xfrm>
            <a:custGeom>
              <a:avLst/>
              <a:gdLst/>
              <a:ahLst/>
              <a:cxnLst/>
              <a:rect r="r" b="b" t="t" l="l"/>
              <a:pathLst>
                <a:path h="2403348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2403348"/>
                  </a:lnTo>
                  <a:lnTo>
                    <a:pt x="0" y="2403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255" r="0" b="-10752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2403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7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User Interaction </a:t>
              </a:r>
            </a:p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Trirong Bold"/>
                  <a:ea typeface="Trirong Bold"/>
                  <a:cs typeface="Trirong Bold"/>
                  <a:sym typeface="Trirong Bold"/>
                </a:rPr>
                <a:t>&amp; System Use Cases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NexusTeam — THWS Project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3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 / 20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475166" y="0"/>
            <a:ext cx="9812834" cy="10287000"/>
          </a:xfrm>
          <a:custGeom>
            <a:avLst/>
            <a:gdLst/>
            <a:ahLst/>
            <a:cxnLst/>
            <a:rect r="r" b="b" t="t" l="l"/>
            <a:pathLst>
              <a:path h="10287000" w="9812834">
                <a:moveTo>
                  <a:pt x="0" y="0"/>
                </a:moveTo>
                <a:lnTo>
                  <a:pt x="9812834" y="0"/>
                </a:lnTo>
                <a:lnTo>
                  <a:pt x="981283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828998" y="7366856"/>
            <a:ext cx="454869" cy="45486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828998" y="8107607"/>
            <a:ext cx="454869" cy="45486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292780" y="7458378"/>
            <a:ext cx="332841" cy="33284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266151" y="6508960"/>
            <a:ext cx="454869" cy="45486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89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2208848" cy="508064"/>
            <a:chOff x="0" y="0"/>
            <a:chExt cx="2945130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30" cy="677418"/>
            </a:xfrm>
            <a:custGeom>
              <a:avLst/>
              <a:gdLst/>
              <a:ahLst/>
              <a:cxnLst/>
              <a:rect r="r" b="b" t="t" l="l"/>
              <a:pathLst>
                <a:path h="677418" w="2945130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606421" y="0"/>
                  </a:lnTo>
                  <a:cubicBezTo>
                    <a:pt x="2793492" y="0"/>
                    <a:pt x="2945130" y="151638"/>
                    <a:pt x="2945130" y="338709"/>
                  </a:cubicBezTo>
                  <a:cubicBezTo>
                    <a:pt x="2945130" y="525780"/>
                    <a:pt x="2793492" y="677418"/>
                    <a:pt x="2606421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2194560" cy="493776"/>
            <a:chOff x="0" y="0"/>
            <a:chExt cx="292608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600" r="0" b="-366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92608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TESTING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86303" y="607695"/>
            <a:ext cx="3310890" cy="512826"/>
            <a:chOff x="0" y="0"/>
            <a:chExt cx="441452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683768"/>
            </a:xfrm>
            <a:custGeom>
              <a:avLst/>
              <a:gdLst/>
              <a:ahLst/>
              <a:cxnLst/>
              <a:rect r="r" b="b" t="t" l="l"/>
              <a:pathLst>
                <a:path h="683768" w="44145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4072636" y="0"/>
                  </a:lnTo>
                  <a:cubicBezTo>
                    <a:pt x="4261485" y="0"/>
                    <a:pt x="4414520" y="153035"/>
                    <a:pt x="4414520" y="341884"/>
                  </a:cubicBezTo>
                  <a:cubicBezTo>
                    <a:pt x="4414520" y="530733"/>
                    <a:pt x="4261485" y="683768"/>
                    <a:pt x="40726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3195828" y="617220"/>
            <a:ext cx="3291840" cy="493776"/>
            <a:chOff x="0" y="0"/>
            <a:chExt cx="438912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9120" cy="658368"/>
            </a:xfrm>
            <a:custGeom>
              <a:avLst/>
              <a:gdLst/>
              <a:ahLst/>
              <a:cxnLst/>
              <a:rect r="r" b="b" t="t" l="l"/>
              <a:pathLst>
                <a:path h="65836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43891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QA Strategy &amp; Cases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Comprehensive Testing Approach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4380" y="2674620"/>
            <a:ext cx="6858000" cy="411480"/>
            <a:chOff x="0" y="0"/>
            <a:chExt cx="91440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1440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TESTING LEVELS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47236" y="3174968"/>
            <a:ext cx="1728788" cy="535496"/>
            <a:chOff x="0" y="0"/>
            <a:chExt cx="2305050" cy="7139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05050" cy="713994"/>
            </a:xfrm>
            <a:custGeom>
              <a:avLst/>
              <a:gdLst/>
              <a:ahLst/>
              <a:cxnLst/>
              <a:rect r="r" b="b" t="t" l="l"/>
              <a:pathLst>
                <a:path h="713994" w="2305050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1948053" y="0"/>
                  </a:lnTo>
                  <a:cubicBezTo>
                    <a:pt x="2145157" y="0"/>
                    <a:pt x="2305050" y="159893"/>
                    <a:pt x="2305050" y="356997"/>
                  </a:cubicBezTo>
                  <a:cubicBezTo>
                    <a:pt x="2305050" y="554101"/>
                    <a:pt x="2145157" y="713994"/>
                    <a:pt x="1948053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54380" y="3182112"/>
            <a:ext cx="1714500" cy="521208"/>
            <a:chOff x="0" y="0"/>
            <a:chExt cx="2286000" cy="694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86000" cy="694944"/>
            </a:xfrm>
            <a:custGeom>
              <a:avLst/>
              <a:gdLst/>
              <a:ahLst/>
              <a:cxnLst/>
              <a:rect r="r" b="b" t="t" l="l"/>
              <a:pathLst>
                <a:path h="694944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" r="0" b="-140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2860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Functional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26328" y="3174968"/>
            <a:ext cx="974407" cy="535496"/>
            <a:chOff x="0" y="0"/>
            <a:chExt cx="1299210" cy="7139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9210" cy="713994"/>
            </a:xfrm>
            <a:custGeom>
              <a:avLst/>
              <a:gdLst/>
              <a:ahLst/>
              <a:cxnLst/>
              <a:rect r="r" b="b" t="t" l="l"/>
              <a:pathLst>
                <a:path h="713994" w="1299210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942213" y="0"/>
                  </a:lnTo>
                  <a:cubicBezTo>
                    <a:pt x="1139317" y="0"/>
                    <a:pt x="1299210" y="159893"/>
                    <a:pt x="1299210" y="356997"/>
                  </a:cubicBezTo>
                  <a:cubicBezTo>
                    <a:pt x="1299210" y="554101"/>
                    <a:pt x="1139317" y="713994"/>
                    <a:pt x="942213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633472" y="3182112"/>
            <a:ext cx="960120" cy="521208"/>
            <a:chOff x="0" y="0"/>
            <a:chExt cx="1280160" cy="6949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694944"/>
            </a:xfrm>
            <a:custGeom>
              <a:avLst/>
              <a:gdLst/>
              <a:ahLst/>
              <a:cxnLst/>
              <a:rect r="r" b="b" t="t" l="l"/>
              <a:pathLst>
                <a:path h="69494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650" t="0" r="-1965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28016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API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751040" y="3174968"/>
            <a:ext cx="1598486" cy="535496"/>
            <a:chOff x="0" y="0"/>
            <a:chExt cx="2131314" cy="71399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31314" cy="713994"/>
            </a:xfrm>
            <a:custGeom>
              <a:avLst/>
              <a:gdLst/>
              <a:ahLst/>
              <a:cxnLst/>
              <a:rect r="r" b="b" t="t" l="l"/>
              <a:pathLst>
                <a:path h="713994" w="2131314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1774317" y="0"/>
                  </a:lnTo>
                  <a:cubicBezTo>
                    <a:pt x="1971421" y="0"/>
                    <a:pt x="2131314" y="159893"/>
                    <a:pt x="2131314" y="356997"/>
                  </a:cubicBezTo>
                  <a:cubicBezTo>
                    <a:pt x="2131314" y="554101"/>
                    <a:pt x="1971421" y="713994"/>
                    <a:pt x="1774317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758184" y="3182112"/>
            <a:ext cx="1584198" cy="521208"/>
            <a:chOff x="0" y="0"/>
            <a:chExt cx="2112264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12264" cy="694944"/>
            </a:xfrm>
            <a:custGeom>
              <a:avLst/>
              <a:gdLst/>
              <a:ahLst/>
              <a:cxnLst/>
              <a:rect r="r" b="b" t="t" l="l"/>
              <a:pathLst>
                <a:path h="694944" w="2112264">
                  <a:moveTo>
                    <a:pt x="0" y="0"/>
                  </a:moveTo>
                  <a:lnTo>
                    <a:pt x="2112264" y="0"/>
                  </a:lnTo>
                  <a:lnTo>
                    <a:pt x="21122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" r="0" b="-92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112264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WebSocket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99830" y="3174968"/>
            <a:ext cx="1468183" cy="535496"/>
            <a:chOff x="0" y="0"/>
            <a:chExt cx="1957578" cy="71399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7578" cy="713994"/>
            </a:xfrm>
            <a:custGeom>
              <a:avLst/>
              <a:gdLst/>
              <a:ahLst/>
              <a:cxnLst/>
              <a:rect r="r" b="b" t="t" l="l"/>
              <a:pathLst>
                <a:path h="713994" w="1957578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1600581" y="0"/>
                  </a:lnTo>
                  <a:cubicBezTo>
                    <a:pt x="1797685" y="0"/>
                    <a:pt x="1957578" y="159893"/>
                    <a:pt x="1957578" y="356997"/>
                  </a:cubicBezTo>
                  <a:cubicBezTo>
                    <a:pt x="1957578" y="554101"/>
                    <a:pt x="1797685" y="713994"/>
                    <a:pt x="1600581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506974" y="3182112"/>
            <a:ext cx="1453896" cy="521208"/>
            <a:chOff x="0" y="0"/>
            <a:chExt cx="1938528" cy="6949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38528" cy="694944"/>
            </a:xfrm>
            <a:custGeom>
              <a:avLst/>
              <a:gdLst/>
              <a:ahLst/>
              <a:cxnLst/>
              <a:rect r="r" b="b" t="t" l="l"/>
              <a:pathLst>
                <a:path h="694944" w="1938528">
                  <a:moveTo>
                    <a:pt x="0" y="0"/>
                  </a:moveTo>
                  <a:lnTo>
                    <a:pt x="1938528" y="0"/>
                  </a:lnTo>
                  <a:lnTo>
                    <a:pt x="193852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3" r="0" b="-43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93852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Security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18318" y="3174968"/>
            <a:ext cx="974407" cy="535496"/>
            <a:chOff x="0" y="0"/>
            <a:chExt cx="1299210" cy="71399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99210" cy="713994"/>
            </a:xfrm>
            <a:custGeom>
              <a:avLst/>
              <a:gdLst/>
              <a:ahLst/>
              <a:cxnLst/>
              <a:rect r="r" b="b" t="t" l="l"/>
              <a:pathLst>
                <a:path h="713994" w="1299210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942213" y="0"/>
                  </a:lnTo>
                  <a:cubicBezTo>
                    <a:pt x="1139317" y="0"/>
                    <a:pt x="1299210" y="159893"/>
                    <a:pt x="1299210" y="356997"/>
                  </a:cubicBezTo>
                  <a:cubicBezTo>
                    <a:pt x="1299210" y="554101"/>
                    <a:pt x="1139317" y="713994"/>
                    <a:pt x="942213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25462" y="3182112"/>
            <a:ext cx="960120" cy="521208"/>
            <a:chOff x="0" y="0"/>
            <a:chExt cx="1280160" cy="694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0" cy="694944"/>
            </a:xfrm>
            <a:custGeom>
              <a:avLst/>
              <a:gdLst/>
              <a:ahLst/>
              <a:cxnLst/>
              <a:rect r="r" b="b" t="t" l="l"/>
              <a:pathLst>
                <a:path h="694944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650" t="0" r="-1965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28016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UI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43030" y="3174968"/>
            <a:ext cx="1859090" cy="535496"/>
            <a:chOff x="0" y="0"/>
            <a:chExt cx="2478786" cy="71399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78786" cy="713994"/>
            </a:xfrm>
            <a:custGeom>
              <a:avLst/>
              <a:gdLst/>
              <a:ahLst/>
              <a:cxnLst/>
              <a:rect r="r" b="b" t="t" l="l"/>
              <a:pathLst>
                <a:path h="713994" w="2478786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2121789" y="0"/>
                  </a:lnTo>
                  <a:cubicBezTo>
                    <a:pt x="2318893" y="0"/>
                    <a:pt x="2478786" y="159893"/>
                    <a:pt x="2478786" y="356997"/>
                  </a:cubicBezTo>
                  <a:cubicBezTo>
                    <a:pt x="2478786" y="554101"/>
                    <a:pt x="2318893" y="713994"/>
                    <a:pt x="2121789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250174" y="3182112"/>
            <a:ext cx="1844802" cy="521208"/>
            <a:chOff x="0" y="0"/>
            <a:chExt cx="2459736" cy="6949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59736" cy="694944"/>
            </a:xfrm>
            <a:custGeom>
              <a:avLst/>
              <a:gdLst/>
              <a:ahLst/>
              <a:cxnLst/>
              <a:rect r="r" b="b" t="t" l="l"/>
              <a:pathLst>
                <a:path h="694944" w="2459736">
                  <a:moveTo>
                    <a:pt x="0" y="0"/>
                  </a:moveTo>
                  <a:lnTo>
                    <a:pt x="2459736" y="0"/>
                  </a:lnTo>
                  <a:lnTo>
                    <a:pt x="245973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66" r="0" b="-189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45973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Integration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52424" y="3174968"/>
            <a:ext cx="2510600" cy="535496"/>
            <a:chOff x="0" y="0"/>
            <a:chExt cx="3347466" cy="71399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47466" cy="713994"/>
            </a:xfrm>
            <a:custGeom>
              <a:avLst/>
              <a:gdLst/>
              <a:ahLst/>
              <a:cxnLst/>
              <a:rect r="r" b="b" t="t" l="l"/>
              <a:pathLst>
                <a:path h="713994" w="3347466">
                  <a:moveTo>
                    <a:pt x="0" y="356997"/>
                  </a:moveTo>
                  <a:cubicBezTo>
                    <a:pt x="0" y="159893"/>
                    <a:pt x="159893" y="0"/>
                    <a:pt x="356997" y="0"/>
                  </a:cubicBezTo>
                  <a:lnTo>
                    <a:pt x="2990469" y="0"/>
                  </a:lnTo>
                  <a:cubicBezTo>
                    <a:pt x="3187573" y="0"/>
                    <a:pt x="3347466" y="159893"/>
                    <a:pt x="3347466" y="356997"/>
                  </a:cubicBezTo>
                  <a:cubicBezTo>
                    <a:pt x="3347466" y="554101"/>
                    <a:pt x="3187573" y="713994"/>
                    <a:pt x="2990469" y="713994"/>
                  </a:cubicBezTo>
                  <a:lnTo>
                    <a:pt x="356997" y="713994"/>
                  </a:lnTo>
                  <a:cubicBezTo>
                    <a:pt x="159893" y="713994"/>
                    <a:pt x="0" y="554101"/>
                    <a:pt x="0" y="356997"/>
                  </a:cubicBezTo>
                  <a:close/>
                </a:path>
              </a:pathLst>
            </a:custGeom>
            <a:solidFill>
              <a:srgbClr val="23232F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259568" y="3182112"/>
            <a:ext cx="2496312" cy="521208"/>
            <a:chOff x="0" y="0"/>
            <a:chExt cx="3328416" cy="6949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28416" cy="694944"/>
            </a:xfrm>
            <a:custGeom>
              <a:avLst/>
              <a:gdLst/>
              <a:ahLst/>
              <a:cxnLst/>
              <a:rect r="r" b="b" t="t" l="l"/>
              <a:pathLst>
                <a:path h="694944" w="3328416">
                  <a:moveTo>
                    <a:pt x="0" y="0"/>
                  </a:moveTo>
                  <a:lnTo>
                    <a:pt x="3328416" y="0"/>
                  </a:lnTo>
                  <a:lnTo>
                    <a:pt x="332841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23" r="0" b="-433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328416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b="true" sz="157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End-to-End (E2E)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6696" y="4457700"/>
            <a:ext cx="2811780" cy="768096"/>
            <a:chOff x="0" y="0"/>
            <a:chExt cx="3749040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3236976" y="0"/>
                  </a:lnTo>
                  <a:cubicBezTo>
                    <a:pt x="3519805" y="0"/>
                    <a:pt x="3749040" y="229235"/>
                    <a:pt x="3749040" y="512064"/>
                  </a:cubicBezTo>
                  <a:cubicBezTo>
                    <a:pt x="3749040" y="794893"/>
                    <a:pt x="3519805" y="1024128"/>
                    <a:pt x="323697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96696" y="4457700"/>
            <a:ext cx="2811780" cy="768096"/>
            <a:chOff x="0" y="0"/>
            <a:chExt cx="3749040" cy="10241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37490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AUTH-01 – AUTH-10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055364" y="4210812"/>
            <a:ext cx="3291840" cy="1261872"/>
            <a:chOff x="0" y="0"/>
            <a:chExt cx="4389120" cy="16824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" r="0" b="-83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43891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Authentication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552944" y="4210812"/>
            <a:ext cx="9738360" cy="1261872"/>
            <a:chOff x="0" y="0"/>
            <a:chExt cx="12984480" cy="16824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9844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73" r="0" b="-10037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298448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Valid/duplicate registration, invalid credentials, token expiration.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96696" y="5897880"/>
            <a:ext cx="2811780" cy="768096"/>
            <a:chOff x="0" y="0"/>
            <a:chExt cx="3749040" cy="10241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3236976" y="0"/>
                  </a:lnTo>
                  <a:cubicBezTo>
                    <a:pt x="3519805" y="0"/>
                    <a:pt x="3749040" y="229235"/>
                    <a:pt x="3749040" y="512064"/>
                  </a:cubicBezTo>
                  <a:cubicBezTo>
                    <a:pt x="3749040" y="794893"/>
                    <a:pt x="3519805" y="1024128"/>
                    <a:pt x="323697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96696" y="5897880"/>
            <a:ext cx="2811780" cy="768096"/>
            <a:chOff x="0" y="0"/>
            <a:chExt cx="374904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37490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MSG-01 – MSG-10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077595" y="5641470"/>
            <a:ext cx="3291840" cy="1261872"/>
            <a:chOff x="0" y="0"/>
            <a:chExt cx="4389120" cy="16824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" r="0" b="-83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43891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Messaging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552944" y="5650992"/>
            <a:ext cx="9738360" cy="1261872"/>
            <a:chOff x="0" y="0"/>
            <a:chExt cx="12984480" cy="16824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9844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73" r="0" b="-10037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298448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Send, edit, delete ownership, emoji support, real-time receipt.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96696" y="7338060"/>
            <a:ext cx="2811780" cy="768096"/>
            <a:chOff x="0" y="0"/>
            <a:chExt cx="3749040" cy="10241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3236976" y="0"/>
                  </a:lnTo>
                  <a:cubicBezTo>
                    <a:pt x="3519805" y="0"/>
                    <a:pt x="3749040" y="229235"/>
                    <a:pt x="3749040" y="512064"/>
                  </a:cubicBezTo>
                  <a:cubicBezTo>
                    <a:pt x="3749040" y="794893"/>
                    <a:pt x="3519805" y="1024128"/>
                    <a:pt x="323697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96696" y="7338060"/>
            <a:ext cx="2811780" cy="768096"/>
            <a:chOff x="0" y="0"/>
            <a:chExt cx="3749040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7490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WS-01 – WS-10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055364" y="7091172"/>
            <a:ext cx="3291840" cy="1261872"/>
            <a:chOff x="0" y="0"/>
            <a:chExt cx="4389120" cy="16824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89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" r="0" b="-83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3891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WebSockets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552944" y="7091172"/>
            <a:ext cx="9738360" cy="1261872"/>
            <a:chOff x="0" y="0"/>
            <a:chExt cx="12984480" cy="16824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9844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73" r="0" b="-10037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298448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Authentication timeout, reconnection recovery, presence broadcasts.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96696" y="8778240"/>
            <a:ext cx="2811780" cy="768096"/>
            <a:chOff x="0" y="0"/>
            <a:chExt cx="3749040" cy="102412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3236976" y="0"/>
                  </a:lnTo>
                  <a:cubicBezTo>
                    <a:pt x="3519805" y="0"/>
                    <a:pt x="3749040" y="229235"/>
                    <a:pt x="3749040" y="512064"/>
                  </a:cubicBezTo>
                  <a:cubicBezTo>
                    <a:pt x="3749040" y="794893"/>
                    <a:pt x="3519805" y="1024128"/>
                    <a:pt x="323697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FF7A29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96696" y="8778240"/>
            <a:ext cx="2811780" cy="768096"/>
            <a:chOff x="0" y="0"/>
            <a:chExt cx="3749040" cy="102412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74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29" r="0" b="-2132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749040" cy="10336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SEC-01 – SEC-10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4055364" y="8531352"/>
            <a:ext cx="3291840" cy="1261872"/>
            <a:chOff x="0" y="0"/>
            <a:chExt cx="4389120" cy="16824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389120" cy="1682496"/>
            </a:xfrm>
            <a:custGeom>
              <a:avLst/>
              <a:gdLst/>
              <a:ahLst/>
              <a:cxnLst/>
              <a:rect r="r" b="b" t="t" l="l"/>
              <a:pathLst>
                <a:path h="1682496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0" r="0" b="-83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438912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Security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7552944" y="8531352"/>
            <a:ext cx="9738360" cy="1261872"/>
            <a:chOff x="0" y="0"/>
            <a:chExt cx="12984480" cy="16824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2984480" cy="1682496"/>
            </a:xfrm>
            <a:custGeom>
              <a:avLst/>
              <a:gdLst/>
              <a:ahLst/>
              <a:cxnLst/>
              <a:rect r="r" b="b" t="t" l="l"/>
              <a:pathLst>
                <a:path h="1682496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73" r="0" b="-10037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2984480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73"/>
                </a:lnSpc>
              </a:pPr>
              <a:r>
                <a:rPr lang="en-US" sz="1725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Unauthorized resource access rejection, rate limiting enforcement.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19 / 20</a:t>
              </a:r>
            </a:p>
          </p:txBody>
        </p:sp>
      </p:grpSp>
      <p:sp>
        <p:nvSpPr>
          <p:cNvPr name="AutoShape 103" id="103"/>
          <p:cNvSpPr/>
          <p:nvPr/>
        </p:nvSpPr>
        <p:spPr>
          <a:xfrm>
            <a:off x="5947434" y="4841748"/>
            <a:ext cx="1421244" cy="37466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4" id="104"/>
          <p:cNvSpPr/>
          <p:nvPr/>
        </p:nvSpPr>
        <p:spPr>
          <a:xfrm flipV="true">
            <a:off x="5947689" y="6272406"/>
            <a:ext cx="1421746" cy="19043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5" id="105"/>
          <p:cNvSpPr/>
          <p:nvPr/>
        </p:nvSpPr>
        <p:spPr>
          <a:xfrm flipV="true">
            <a:off x="5925458" y="7722108"/>
            <a:ext cx="1466986" cy="19043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06" id="106"/>
          <p:cNvSpPr/>
          <p:nvPr/>
        </p:nvSpPr>
        <p:spPr>
          <a:xfrm flipV="true">
            <a:off x="5925458" y="9129647"/>
            <a:ext cx="1443978" cy="42541"/>
          </a:xfrm>
          <a:prstGeom prst="line">
            <a:avLst/>
          </a:prstGeom>
          <a:ln cap="flat" w="381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36" y="610076"/>
            <a:ext cx="4801172" cy="508064"/>
            <a:chOff x="0" y="0"/>
            <a:chExt cx="6401562" cy="677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01562" cy="677418"/>
            </a:xfrm>
            <a:custGeom>
              <a:avLst/>
              <a:gdLst/>
              <a:ahLst/>
              <a:cxnLst/>
              <a:rect r="r" b="b" t="t" l="l"/>
              <a:pathLst>
                <a:path h="677418" w="6401562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6062853" y="0"/>
                  </a:lnTo>
                  <a:cubicBezTo>
                    <a:pt x="6249924" y="0"/>
                    <a:pt x="6401562" y="151638"/>
                    <a:pt x="6401562" y="338709"/>
                  </a:cubicBezTo>
                  <a:cubicBezTo>
                    <a:pt x="6401562" y="525780"/>
                    <a:pt x="6249924" y="677418"/>
                    <a:pt x="6062853" y="677418"/>
                  </a:cubicBezTo>
                  <a:lnTo>
                    <a:pt x="338709" y="677418"/>
                  </a:lnTo>
                  <a:cubicBezTo>
                    <a:pt x="151638" y="677418"/>
                    <a:pt x="0" y="525780"/>
                    <a:pt x="0" y="338709"/>
                  </a:cubicBezTo>
                  <a:close/>
                </a:path>
              </a:pathLst>
            </a:custGeom>
            <a:solidFill>
              <a:srgbClr val="FF7A29"/>
            </a:solidFill>
            <a:ln w="14288" cap="sq">
              <a:solidFill>
                <a:srgbClr val="FF7A2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617220"/>
            <a:ext cx="4786884" cy="493776"/>
            <a:chOff x="0" y="0"/>
            <a:chExt cx="6382512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2512" cy="658368"/>
            </a:xfrm>
            <a:custGeom>
              <a:avLst/>
              <a:gdLst/>
              <a:ahLst/>
              <a:cxnLst/>
              <a:rect r="r" b="b" t="t" l="l"/>
              <a:pathLst>
                <a:path h="658368" w="6382512">
                  <a:moveTo>
                    <a:pt x="0" y="0"/>
                  </a:moveTo>
                  <a:lnTo>
                    <a:pt x="6382512" y="0"/>
                  </a:lnTo>
                  <a:lnTo>
                    <a:pt x="6382512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896" r="0" b="-13889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6382512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14141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DEPLOYMENT &amp; 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78627" y="607695"/>
            <a:ext cx="2487930" cy="512826"/>
            <a:chOff x="0" y="0"/>
            <a:chExt cx="3317240" cy="683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17240" cy="683768"/>
            </a:xfrm>
            <a:custGeom>
              <a:avLst/>
              <a:gdLst/>
              <a:ahLst/>
              <a:cxnLst/>
              <a:rect r="r" b="b" t="t" l="l"/>
              <a:pathLst>
                <a:path h="683768" w="331724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2975356" y="0"/>
                  </a:lnTo>
                  <a:cubicBezTo>
                    <a:pt x="3164205" y="0"/>
                    <a:pt x="3317240" y="153035"/>
                    <a:pt x="3317240" y="341884"/>
                  </a:cubicBezTo>
                  <a:cubicBezTo>
                    <a:pt x="3317240" y="530733"/>
                    <a:pt x="3164205" y="683768"/>
                    <a:pt x="297535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9050" cap="sq">
              <a:solidFill>
                <a:srgbClr val="FFB34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788152" y="617220"/>
            <a:ext cx="2468880" cy="493776"/>
            <a:chOff x="0" y="0"/>
            <a:chExt cx="32918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840" cy="658368"/>
            </a:xfrm>
            <a:custGeom>
              <a:avLst/>
              <a:gdLst/>
              <a:ahLst/>
              <a:cxnLst/>
              <a:rect r="r" b="b" t="t" l="l"/>
              <a:pathLst>
                <a:path h="658368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2918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Final Summary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380" y="1371600"/>
            <a:ext cx="16733520" cy="960120"/>
            <a:chOff x="0" y="0"/>
            <a:chExt cx="223113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11361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596" r="0" b="-28959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1136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4500" spc="-68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Docker Deployment, Conclusion, and Future Work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7236" y="2667476"/>
            <a:ext cx="16788956" cy="1934527"/>
            <a:chOff x="0" y="0"/>
            <a:chExt cx="22385274" cy="25793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85274" cy="2579370"/>
            </a:xfrm>
            <a:custGeom>
              <a:avLst/>
              <a:gdLst/>
              <a:ahLst/>
              <a:cxnLst/>
              <a:rect r="r" b="b" t="t" l="l"/>
              <a:pathLst>
                <a:path h="2579370" w="22385274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22164168" y="0"/>
                  </a:lnTo>
                  <a:cubicBezTo>
                    <a:pt x="22286215" y="0"/>
                    <a:pt x="22385274" y="98933"/>
                    <a:pt x="22385274" y="221107"/>
                  </a:cubicBezTo>
                  <a:lnTo>
                    <a:pt x="22385274" y="2358263"/>
                  </a:lnTo>
                  <a:cubicBezTo>
                    <a:pt x="22385274" y="2480310"/>
                    <a:pt x="22286342" y="2579370"/>
                    <a:pt x="22164168" y="2579370"/>
                  </a:cubicBezTo>
                  <a:lnTo>
                    <a:pt x="221107" y="2579370"/>
                  </a:lnTo>
                  <a:cubicBezTo>
                    <a:pt x="98933" y="2579370"/>
                    <a:pt x="0" y="2480437"/>
                    <a:pt x="0" y="23582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56132" y="3086100"/>
            <a:ext cx="16171164" cy="466344"/>
            <a:chOff x="0" y="0"/>
            <a:chExt cx="21561552" cy="621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61552" cy="621792"/>
            </a:xfrm>
            <a:custGeom>
              <a:avLst/>
              <a:gdLst/>
              <a:ahLst/>
              <a:cxnLst/>
              <a:rect r="r" b="b" t="t" l="l"/>
              <a:pathLst>
                <a:path h="621792" w="21561552">
                  <a:moveTo>
                    <a:pt x="0" y="0"/>
                  </a:moveTo>
                  <a:lnTo>
                    <a:pt x="21561552" y="0"/>
                  </a:lnTo>
                  <a:lnTo>
                    <a:pt x="2156155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672" r="0" b="-62567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561552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CONTAINERIZED DEPLOYMENT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47572" y="3624453"/>
            <a:ext cx="15988284" cy="3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2901" indent="-176451" lvl="1">
              <a:lnSpc>
                <a:spcPts val="2527"/>
              </a:lnSpc>
              <a:buFont typeface="Arial"/>
              <a:buChar char="•"/>
            </a:pPr>
            <a:r>
              <a:rPr lang="en-US" sz="195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Docker Compose manages Server, Web Client (Nginx), Oracle, MongoDB (Sharded), Redis, and NexusTeam.DbSeeder.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47236" y="4862036"/>
            <a:ext cx="8106728" cy="2551748"/>
            <a:chOff x="0" y="0"/>
            <a:chExt cx="10808970" cy="3402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08970" cy="3402330"/>
            </a:xfrm>
            <a:custGeom>
              <a:avLst/>
              <a:gdLst/>
              <a:ahLst/>
              <a:cxnLst/>
              <a:rect r="r" b="b" t="t" l="l"/>
              <a:pathLst>
                <a:path h="3402330" w="1080897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588244" y="0"/>
                  </a:lnTo>
                  <a:cubicBezTo>
                    <a:pt x="10710163" y="0"/>
                    <a:pt x="10808970" y="98806"/>
                    <a:pt x="10808970" y="220726"/>
                  </a:cubicBezTo>
                  <a:lnTo>
                    <a:pt x="10808970" y="3181604"/>
                  </a:lnTo>
                  <a:cubicBezTo>
                    <a:pt x="10808970" y="3303524"/>
                    <a:pt x="10710163" y="3402330"/>
                    <a:pt x="10588244" y="3402330"/>
                  </a:cubicBezTo>
                  <a:lnTo>
                    <a:pt x="220726" y="3402330"/>
                  </a:lnTo>
                  <a:cubicBezTo>
                    <a:pt x="98806" y="3402330"/>
                    <a:pt x="0" y="3303524"/>
                    <a:pt x="0" y="318160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27777">
                    <a:alpha val="1000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  <a:ln w="14288" cap="sq">
              <a:solidFill>
                <a:srgbClr val="33333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56132" y="5280660"/>
            <a:ext cx="7488936" cy="466344"/>
            <a:chOff x="0" y="0"/>
            <a:chExt cx="9985248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85248" cy="621792"/>
            </a:xfrm>
            <a:custGeom>
              <a:avLst/>
              <a:gdLst/>
              <a:ahLst/>
              <a:cxnLst/>
              <a:rect r="r" b="b" t="t" l="l"/>
              <a:pathLst>
                <a:path h="621792" w="9985248">
                  <a:moveTo>
                    <a:pt x="0" y="0"/>
                  </a:moveTo>
                  <a:lnTo>
                    <a:pt x="9985248" y="0"/>
                  </a:lnTo>
                  <a:lnTo>
                    <a:pt x="9985248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2906" r="0" b="-2629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985248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FF7A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CONCLUSION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47572" y="5828538"/>
            <a:ext cx="730605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2430"/>
              </a:lnSpc>
              <a:buFont typeface="Arial"/>
              <a:buChar char="•"/>
            </a:pPr>
            <a:r>
              <a:rPr lang="en-US" sz="1875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Successfully delivered a fully functional, modular, multi-platform real-time messaging system meeting all academic requirements.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54380" y="9793224"/>
            <a:ext cx="8229600" cy="411480"/>
            <a:chOff x="0" y="0"/>
            <a:chExt cx="109728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09728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NexusTeam — THWS Project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59200" y="9793224"/>
            <a:ext cx="1097280" cy="411480"/>
            <a:chOff x="0" y="0"/>
            <a:chExt cx="146304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463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7D7D8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20 / 20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2867267">
            <a:off x="16063053" y="-930801"/>
            <a:ext cx="2353585" cy="2285879"/>
          </a:xfrm>
          <a:custGeom>
            <a:avLst/>
            <a:gdLst/>
            <a:ahLst/>
            <a:cxnLst/>
            <a:rect r="r" b="b" t="t" l="l"/>
            <a:pathLst>
              <a:path h="2285879" w="2353585">
                <a:moveTo>
                  <a:pt x="0" y="0"/>
                </a:moveTo>
                <a:lnTo>
                  <a:pt x="2353584" y="0"/>
                </a:lnTo>
                <a:lnTo>
                  <a:pt x="2353584" y="2285879"/>
                </a:lnTo>
                <a:lnTo>
                  <a:pt x="0" y="22858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-841078" y="7413784"/>
            <a:ext cx="2243523" cy="2228322"/>
          </a:xfrm>
          <a:custGeom>
            <a:avLst/>
            <a:gdLst/>
            <a:ahLst/>
            <a:cxnLst/>
            <a:rect r="r" b="b" t="t" l="l"/>
            <a:pathLst>
              <a:path h="2228322" w="2243523">
                <a:moveTo>
                  <a:pt x="0" y="0"/>
                </a:moveTo>
                <a:lnTo>
                  <a:pt x="2243522" y="0"/>
                </a:lnTo>
                <a:lnTo>
                  <a:pt x="2243522" y="2228322"/>
                </a:lnTo>
                <a:lnTo>
                  <a:pt x="0" y="2228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6795473" y="8729289"/>
            <a:ext cx="1955257" cy="1899009"/>
          </a:xfrm>
          <a:custGeom>
            <a:avLst/>
            <a:gdLst/>
            <a:ahLst/>
            <a:cxnLst/>
            <a:rect r="r" b="b" t="t" l="l"/>
            <a:pathLst>
              <a:path h="1899009" w="1955257">
                <a:moveTo>
                  <a:pt x="0" y="0"/>
                </a:moveTo>
                <a:lnTo>
                  <a:pt x="1955257" y="0"/>
                </a:lnTo>
                <a:lnTo>
                  <a:pt x="1955257" y="1899010"/>
                </a:lnTo>
                <a:lnTo>
                  <a:pt x="0" y="18990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27777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190274" y="-20468799"/>
            <a:ext cx="49815922" cy="51224598"/>
          </a:xfrm>
          <a:custGeom>
            <a:avLst/>
            <a:gdLst/>
            <a:ahLst/>
            <a:cxnLst/>
            <a:rect r="r" b="b" t="t" l="l"/>
            <a:pathLst>
              <a:path h="51224598" w="49815922">
                <a:moveTo>
                  <a:pt x="0" y="0"/>
                </a:moveTo>
                <a:lnTo>
                  <a:pt x="49815922" y="0"/>
                </a:lnTo>
                <a:lnTo>
                  <a:pt x="49815922" y="51224598"/>
                </a:lnTo>
                <a:lnTo>
                  <a:pt x="0" y="51224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72904" y="3921385"/>
            <a:ext cx="11342192" cy="2513495"/>
            <a:chOff x="0" y="0"/>
            <a:chExt cx="15122922" cy="33513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122922" cy="3351327"/>
            </a:xfrm>
            <a:custGeom>
              <a:avLst/>
              <a:gdLst/>
              <a:ahLst/>
              <a:cxnLst/>
              <a:rect r="r" b="b" t="t" l="l"/>
              <a:pathLst>
                <a:path h="3351327" w="15122922">
                  <a:moveTo>
                    <a:pt x="0" y="0"/>
                  </a:moveTo>
                  <a:lnTo>
                    <a:pt x="15122922" y="0"/>
                  </a:lnTo>
                  <a:lnTo>
                    <a:pt x="15122922" y="3351327"/>
                  </a:lnTo>
                  <a:lnTo>
                    <a:pt x="0" y="3351327"/>
                  </a:lnTo>
                  <a:close/>
                </a:path>
              </a:pathLst>
            </a:custGeom>
            <a:solidFill>
              <a:srgbClr val="FF62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5122922" cy="3351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80"/>
                </a:lnSpc>
              </a:pPr>
              <a:r>
                <a:rPr lang="en-US" b="true" sz="6900" spc="-105">
                  <a:solidFill>
                    <a:srgbClr val="FFFFFF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THANK YOU FOR YOUR ATTENTION!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DAHR6xXTJnY</dc:identifier>
  <dcterms:modified xsi:type="dcterms:W3CDTF">2011-08-01T06:04:30Z</dcterms:modified>
  <cp:revision>1</cp:revision>
  <dc:title>NexusTeam_Presentation.pptx</dc:title>
</cp:coreProperties>
</file>